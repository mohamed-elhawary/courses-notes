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9144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5" name="Google Shape;5;n"/>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p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 name="Google Shape;86;p1: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0" name="Shape 90"/>
        <p:cNvGrpSpPr/>
        <p:nvPr/>
      </p:nvGrpSpPr>
      <p:grpSpPr>
        <a:xfrm>
          <a:off x="0" y="0"/>
          <a:ext cx="0" cy="0"/>
          <a:chOff x="0" y="0"/>
          <a:chExt cx="0" cy="0"/>
        </a:xfrm>
      </p:grpSpPr>
      <p:sp>
        <p:nvSpPr>
          <p:cNvPr id="91" name="Google Shape;91;p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2" name="Google Shape;92;p2: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8" name="Google Shape;98;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2"/>
        <p:cNvGrpSpPr/>
        <p:nvPr/>
      </p:nvGrpSpPr>
      <p:grpSpPr>
        <a:xfrm>
          <a:off x="0" y="0"/>
          <a:ext cx="0" cy="0"/>
          <a:chOff x="0" y="0"/>
          <a:chExt cx="0" cy="0"/>
        </a:xfrm>
      </p:grpSpPr>
      <p:sp>
        <p:nvSpPr>
          <p:cNvPr id="103" name="Google Shape;103;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4" name="Google Shape;104;p4: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 name="Shape 108"/>
        <p:cNvGrpSpPr/>
        <p:nvPr/>
      </p:nvGrpSpPr>
      <p:grpSpPr>
        <a:xfrm>
          <a:off x="0" y="0"/>
          <a:ext cx="0" cy="0"/>
          <a:chOff x="0" y="0"/>
          <a:chExt cx="0" cy="0"/>
        </a:xfrm>
      </p:grpSpPr>
      <p:sp>
        <p:nvSpPr>
          <p:cNvPr id="109" name="Google Shape;109;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0" name="Google Shape;110;p5: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4" name="Shape 114"/>
        <p:cNvGrpSpPr/>
        <p:nvPr/>
      </p:nvGrpSpPr>
      <p:grpSpPr>
        <a:xfrm>
          <a:off x="0" y="0"/>
          <a:ext cx="0" cy="0"/>
          <a:chOff x="0" y="0"/>
          <a:chExt cx="0" cy="0"/>
        </a:xfrm>
      </p:grpSpPr>
      <p:sp>
        <p:nvSpPr>
          <p:cNvPr id="115" name="Google Shape;115;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6" name="Google Shape;116;p6: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 name="Shape 120"/>
        <p:cNvGrpSpPr/>
        <p:nvPr/>
      </p:nvGrpSpPr>
      <p:grpSpPr>
        <a:xfrm>
          <a:off x="0" y="0"/>
          <a:ext cx="0" cy="0"/>
          <a:chOff x="0" y="0"/>
          <a:chExt cx="0" cy="0"/>
        </a:xfrm>
      </p:grpSpPr>
      <p:sp>
        <p:nvSpPr>
          <p:cNvPr id="121" name="Google Shape;121;p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2" name="Google Shape;122;p7: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6" name="Shape 126"/>
        <p:cNvGrpSpPr/>
        <p:nvPr/>
      </p:nvGrpSpPr>
      <p:grpSpPr>
        <a:xfrm>
          <a:off x="0" y="0"/>
          <a:ext cx="0" cy="0"/>
          <a:chOff x="0" y="0"/>
          <a:chExt cx="0" cy="0"/>
        </a:xfrm>
      </p:grpSpPr>
      <p:sp>
        <p:nvSpPr>
          <p:cNvPr id="127" name="Google Shape;127;p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8" name="Google Shape;128;p8: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2" name="Shape 132"/>
        <p:cNvGrpSpPr/>
        <p:nvPr/>
      </p:nvGrpSpPr>
      <p:grpSpPr>
        <a:xfrm>
          <a:off x="0" y="0"/>
          <a:ext cx="0" cy="0"/>
          <a:chOff x="0" y="0"/>
          <a:chExt cx="0" cy="0"/>
        </a:xfrm>
      </p:grpSpPr>
      <p:sp>
        <p:nvSpPr>
          <p:cNvPr id="133" name="Google Shape;133;p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4" name="Google Shape;134;p9: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8" name="Shape 138"/>
        <p:cNvGrpSpPr/>
        <p:nvPr/>
      </p:nvGrpSpPr>
      <p:grpSpPr>
        <a:xfrm>
          <a:off x="0" y="0"/>
          <a:ext cx="0" cy="0"/>
          <a:chOff x="0" y="0"/>
          <a:chExt cx="0" cy="0"/>
        </a:xfrm>
      </p:grpSpPr>
      <p:sp>
        <p:nvSpPr>
          <p:cNvPr id="139" name="Google Shape;139;p1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0" name="Google Shape;140;p10: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4" name="Shape 144"/>
        <p:cNvGrpSpPr/>
        <p:nvPr/>
      </p:nvGrpSpPr>
      <p:grpSpPr>
        <a:xfrm>
          <a:off x="0" y="0"/>
          <a:ext cx="0" cy="0"/>
          <a:chOff x="0" y="0"/>
          <a:chExt cx="0" cy="0"/>
        </a:xfrm>
      </p:grpSpPr>
      <p:sp>
        <p:nvSpPr>
          <p:cNvPr id="145" name="Google Shape;145;p1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6" name="Google Shape;146;p11: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p1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2" name="Google Shape;152;p12: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6" name="Shape 156"/>
        <p:cNvGrpSpPr/>
        <p:nvPr/>
      </p:nvGrpSpPr>
      <p:grpSpPr>
        <a:xfrm>
          <a:off x="0" y="0"/>
          <a:ext cx="0" cy="0"/>
          <a:chOff x="0" y="0"/>
          <a:chExt cx="0" cy="0"/>
        </a:xfrm>
      </p:grpSpPr>
      <p:sp>
        <p:nvSpPr>
          <p:cNvPr id="157" name="Google Shape;157;p1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8" name="Google Shape;158;p1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2" name="Shape 162"/>
        <p:cNvGrpSpPr/>
        <p:nvPr/>
      </p:nvGrpSpPr>
      <p:grpSpPr>
        <a:xfrm>
          <a:off x="0" y="0"/>
          <a:ext cx="0" cy="0"/>
          <a:chOff x="0" y="0"/>
          <a:chExt cx="0" cy="0"/>
        </a:xfrm>
      </p:grpSpPr>
      <p:sp>
        <p:nvSpPr>
          <p:cNvPr id="163" name="Google Shape;163;p14: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8" name="Shape 168"/>
        <p:cNvGrpSpPr/>
        <p:nvPr/>
      </p:nvGrpSpPr>
      <p:grpSpPr>
        <a:xfrm>
          <a:off x="0" y="0"/>
          <a:ext cx="0" cy="0"/>
          <a:chOff x="0" y="0"/>
          <a:chExt cx="0" cy="0"/>
        </a:xfrm>
      </p:grpSpPr>
      <p:sp>
        <p:nvSpPr>
          <p:cNvPr id="169" name="Google Shape;169;p1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0" name="Google Shape;170;p15: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4" name="Shape 174"/>
        <p:cNvGrpSpPr/>
        <p:nvPr/>
      </p:nvGrpSpPr>
      <p:grpSpPr>
        <a:xfrm>
          <a:off x="0" y="0"/>
          <a:ext cx="0" cy="0"/>
          <a:chOff x="0" y="0"/>
          <a:chExt cx="0" cy="0"/>
        </a:xfrm>
      </p:grpSpPr>
      <p:sp>
        <p:nvSpPr>
          <p:cNvPr id="175" name="Google Shape;175;p1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6" name="Google Shape;176;p16: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0" name="Shape 180"/>
        <p:cNvGrpSpPr/>
        <p:nvPr/>
      </p:nvGrpSpPr>
      <p:grpSpPr>
        <a:xfrm>
          <a:off x="0" y="0"/>
          <a:ext cx="0" cy="0"/>
          <a:chOff x="0" y="0"/>
          <a:chExt cx="0" cy="0"/>
        </a:xfrm>
      </p:grpSpPr>
      <p:sp>
        <p:nvSpPr>
          <p:cNvPr id="181" name="Google Shape;181;p1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2" name="Google Shape;182;p17: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9"/>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0"/>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2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21"/>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1"/>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2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2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2"/>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22"/>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2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2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3"/>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3" name="Google Shape;43;p23"/>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4" name="Google Shape;44;p23"/>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23"/>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2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2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4" name="Shape 54"/>
        <p:cNvGrpSpPr/>
        <p:nvPr/>
      </p:nvGrpSpPr>
      <p:grpSpPr>
        <a:xfrm>
          <a:off x="0" y="0"/>
          <a:ext cx="0" cy="0"/>
          <a:chOff x="0" y="0"/>
          <a:chExt cx="0" cy="0"/>
        </a:xfrm>
      </p:grpSpPr>
      <p:sp>
        <p:nvSpPr>
          <p:cNvPr id="55" name="Google Shape;55;p2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8" name="Shape 58"/>
        <p:cNvGrpSpPr/>
        <p:nvPr/>
      </p:nvGrpSpPr>
      <p:grpSpPr>
        <a:xfrm>
          <a:off x="0" y="0"/>
          <a:ext cx="0" cy="0"/>
          <a:chOff x="0" y="0"/>
          <a:chExt cx="0" cy="0"/>
        </a:xfrm>
      </p:grpSpPr>
      <p:sp>
        <p:nvSpPr>
          <p:cNvPr id="59" name="Google Shape;59;p26"/>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6"/>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61" name="Google Shape;61;p26"/>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2" name="Google Shape;62;p2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5" name="Shape 65"/>
        <p:cNvGrpSpPr/>
        <p:nvPr/>
      </p:nvGrpSpPr>
      <p:grpSpPr>
        <a:xfrm>
          <a:off x="0" y="0"/>
          <a:ext cx="0" cy="0"/>
          <a:chOff x="0" y="0"/>
          <a:chExt cx="0" cy="0"/>
        </a:xfrm>
      </p:grpSpPr>
      <p:sp>
        <p:nvSpPr>
          <p:cNvPr id="66" name="Google Shape;66;p27"/>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7"/>
          <p:cNvSpPr/>
          <p:nvPr>
            <p:ph type="pic" idx="2"/>
          </p:nvPr>
        </p:nvSpPr>
        <p:spPr>
          <a:xfrm>
            <a:off x="1792288" y="612775"/>
            <a:ext cx="5486400" cy="4114800"/>
          </a:xfrm>
          <a:prstGeom prst="rect">
            <a:avLst/>
          </a:prstGeom>
          <a:noFill/>
          <a:ln>
            <a:noFill/>
          </a:ln>
        </p:spPr>
      </p:sp>
      <p:sp>
        <p:nvSpPr>
          <p:cNvPr id="68" name="Google Shape;68;p27"/>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9" name="Google Shape;69;p2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72" name="Shape 72"/>
        <p:cNvGrpSpPr/>
        <p:nvPr/>
      </p:nvGrpSpPr>
      <p:grpSpPr>
        <a:xfrm>
          <a:off x="0" y="0"/>
          <a:ext cx="0" cy="0"/>
          <a:chOff x="0" y="0"/>
          <a:chExt cx="0" cy="0"/>
        </a:xfrm>
      </p:grpSpPr>
      <p:sp>
        <p:nvSpPr>
          <p:cNvPr id="73" name="Google Shape;73;p2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8"/>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5" name="Google Shape;75;p2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8" name="Shape 78"/>
        <p:cNvGrpSpPr/>
        <p:nvPr/>
      </p:nvGrpSpPr>
      <p:grpSpPr>
        <a:xfrm>
          <a:off x="0" y="0"/>
          <a:ext cx="0" cy="0"/>
          <a:chOff x="0" y="0"/>
          <a:chExt cx="0" cy="0"/>
        </a:xfrm>
      </p:grpSpPr>
      <p:sp>
        <p:nvSpPr>
          <p:cNvPr id="79" name="Google Shape;79;p29"/>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9"/>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81" name="Google Shape;81;p2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1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8"/>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704020202020204"/>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panose="020B0704020202020204"/>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panose="020B0704020202020204"/>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9pPr>
          </a:lstStyle>
          <a:p/>
        </p:txBody>
      </p:sp>
      <p:sp>
        <p:nvSpPr>
          <p:cNvPr id="12" name="Google Shape;12;p1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13" name="Google Shape;13;p1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14" name="Google Shape;14;p1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7" name="Shape 87"/>
        <p:cNvGrpSpPr/>
        <p:nvPr/>
      </p:nvGrpSpPr>
      <p:grpSpPr>
        <a:xfrm>
          <a:off x="0" y="0"/>
          <a:ext cx="0" cy="0"/>
          <a:chOff x="0" y="0"/>
          <a:chExt cx="0" cy="0"/>
        </a:xfrm>
      </p:grpSpPr>
      <p:sp>
        <p:nvSpPr>
          <p:cNvPr id="88" name="Google Shape;88;p1"/>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The Power of Deep Listening</a:t>
            </a:r>
            <a:endParaRPr lang="en-US" sz="4400">
              <a:solidFill>
                <a:schemeClr val="dk1"/>
              </a:solidFill>
              <a:latin typeface="Calibri"/>
              <a:ea typeface="Calibri"/>
              <a:cs typeface="Calibri"/>
              <a:sym typeface="Calibri"/>
            </a:endParaRPr>
          </a:p>
        </p:txBody>
      </p:sp>
      <p:sp>
        <p:nvSpPr>
          <p:cNvPr id="89" name="Google Shape;89;p1"/>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r>
              <a:rPr lang="en-US">
                <a:solidFill>
                  <a:srgbClr val="888888"/>
                </a:solidFill>
              </a:rPr>
              <a:t>Using Active Listening Skills</a:t>
            </a:r>
            <a:endParaRPr lang="en-US">
              <a:solidFill>
                <a:srgbClr val="88888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3" name="Shape 93"/>
        <p:cNvGrpSpPr/>
        <p:nvPr/>
      </p:nvGrpSpPr>
      <p:grpSpPr>
        <a:xfrm>
          <a:off x="0" y="0"/>
          <a:ext cx="0" cy="0"/>
          <a:chOff x="0" y="0"/>
          <a:chExt cx="0" cy="0"/>
        </a:xfrm>
      </p:grpSpPr>
      <p:sp>
        <p:nvSpPr>
          <p:cNvPr id="94" name="Google Shape;94;p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What is </a:t>
            </a:r>
            <a:r>
              <a:rPr lang="en-US"/>
              <a:t>Active </a:t>
            </a:r>
            <a:r>
              <a:rPr lang="en-US" sz="4400">
                <a:solidFill>
                  <a:schemeClr val="dk1"/>
                </a:solidFill>
                <a:latin typeface="Calibri"/>
                <a:ea typeface="Calibri"/>
                <a:cs typeface="Calibri"/>
                <a:sym typeface="Calibri"/>
              </a:rPr>
              <a:t>Listening?</a:t>
            </a:r>
            <a:endParaRPr lang="en-US" sz="4400">
              <a:solidFill>
                <a:schemeClr val="dk1"/>
              </a:solidFill>
              <a:latin typeface="Calibri"/>
              <a:ea typeface="Calibri"/>
              <a:cs typeface="Calibri"/>
              <a:sym typeface="Calibri"/>
            </a:endParaRPr>
          </a:p>
        </p:txBody>
      </p:sp>
      <p:sp>
        <p:nvSpPr>
          <p:cNvPr id="95" name="Google Shape;95;p2"/>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a:t>Being fully present with another person.</a:t>
            </a:r>
            <a:endParaRPr lang="en-US" sz="2000"/>
          </a:p>
          <a:p>
            <a:pPr marL="342900" lvl="0" indent="-342900" algn="l" rtl="0">
              <a:spcBef>
                <a:spcPts val="400"/>
              </a:spcBef>
              <a:spcAft>
                <a:spcPts val="0"/>
              </a:spcAft>
              <a:buClr>
                <a:schemeClr val="dk1"/>
              </a:buClr>
              <a:buSzPts val="2000"/>
              <a:buChar char="•"/>
            </a:pPr>
            <a:r>
              <a:rPr lang="en-US" sz="2000"/>
              <a:t>Hearing more than words: tuning into deeper meaning, needs, and feelings.</a:t>
            </a:r>
            <a:endParaRPr lang="en-US" sz="2000"/>
          </a:p>
          <a:p>
            <a:pPr marL="342900" lvl="0" indent="-342900" algn="l" rtl="0">
              <a:spcBef>
                <a:spcPts val="400"/>
              </a:spcBef>
              <a:spcAft>
                <a:spcPts val="0"/>
              </a:spcAft>
              <a:buClr>
                <a:schemeClr val="dk1"/>
              </a:buClr>
              <a:buSzPts val="2000"/>
              <a:buChar char="•"/>
            </a:pPr>
            <a:r>
              <a:rPr lang="en-US" sz="2000"/>
              <a:t>Communicating that we understand, value and respect the speaker.</a:t>
            </a:r>
            <a:endParaRPr 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100" name="Google Shape;100;p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Why Deep Listening Matters</a:t>
            </a:r>
            <a:endParaRPr lang="en-US" sz="4400">
              <a:solidFill>
                <a:schemeClr val="dk1"/>
              </a:solidFill>
              <a:latin typeface="Calibri"/>
              <a:ea typeface="Calibri"/>
              <a:cs typeface="Calibri"/>
              <a:sym typeface="Calibri"/>
            </a:endParaRPr>
          </a:p>
        </p:txBody>
      </p:sp>
      <p:sp>
        <p:nvSpPr>
          <p:cNvPr id="101" name="Google Shape;101;p3"/>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a:t>Helps you gather better information for decisions and problem-solving.</a:t>
            </a:r>
            <a:endParaRPr lang="en-US" sz="2000"/>
          </a:p>
          <a:p>
            <a:pPr marL="342900" lvl="0" indent="-342900" algn="l" rtl="0">
              <a:spcBef>
                <a:spcPts val="400"/>
              </a:spcBef>
              <a:spcAft>
                <a:spcPts val="0"/>
              </a:spcAft>
              <a:buClr>
                <a:schemeClr val="dk1"/>
              </a:buClr>
              <a:buSzPts val="2000"/>
              <a:buChar char="•"/>
            </a:pPr>
            <a:r>
              <a:rPr lang="en-US" sz="2000"/>
              <a:t>Makes people feel valued so they want to give their best.</a:t>
            </a:r>
            <a:endParaRPr lang="en-US" sz="2000"/>
          </a:p>
          <a:p>
            <a:pPr marL="342900" lvl="0" indent="-342900" algn="l" rtl="0">
              <a:spcBef>
                <a:spcPts val="400"/>
              </a:spcBef>
              <a:spcAft>
                <a:spcPts val="0"/>
              </a:spcAft>
              <a:buClr>
                <a:schemeClr val="dk1"/>
              </a:buClr>
              <a:buSzPts val="2000"/>
              <a:buChar char="•"/>
            </a:pPr>
            <a:r>
              <a:rPr lang="en-US" sz="2000"/>
              <a:t>Builds and transforms relationships over time.</a:t>
            </a: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5" name="Shape 105"/>
        <p:cNvGrpSpPr/>
        <p:nvPr/>
      </p:nvGrpSpPr>
      <p:grpSpPr>
        <a:xfrm>
          <a:off x="0" y="0"/>
          <a:ext cx="0" cy="0"/>
          <a:chOff x="0" y="0"/>
          <a:chExt cx="0" cy="0"/>
        </a:xfrm>
      </p:grpSpPr>
      <p:sp>
        <p:nvSpPr>
          <p:cNvPr id="106" name="Google Shape;106;p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The Power of </a:t>
            </a:r>
            <a:r>
              <a:rPr lang="en-US"/>
              <a:t>Active </a:t>
            </a:r>
            <a:r>
              <a:rPr lang="en-US" sz="4400">
                <a:solidFill>
                  <a:schemeClr val="dk1"/>
                </a:solidFill>
                <a:latin typeface="Calibri"/>
                <a:ea typeface="Calibri"/>
                <a:cs typeface="Calibri"/>
                <a:sym typeface="Calibri"/>
              </a:rPr>
              <a:t>Listening</a:t>
            </a:r>
            <a:endParaRPr lang="en-US" sz="4400">
              <a:solidFill>
                <a:schemeClr val="dk1"/>
              </a:solidFill>
              <a:latin typeface="Calibri"/>
              <a:ea typeface="Calibri"/>
              <a:cs typeface="Calibri"/>
              <a:sym typeface="Calibri"/>
            </a:endParaRPr>
          </a:p>
        </p:txBody>
      </p:sp>
      <p:sp>
        <p:nvSpPr>
          <p:cNvPr id="107" name="Google Shape;107;p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a:t>Connects people and builds unity and trust.</a:t>
            </a:r>
            <a:endParaRPr lang="en-US" sz="2000"/>
          </a:p>
          <a:p>
            <a:pPr marL="342900" lvl="0" indent="-342900" algn="l" rtl="0">
              <a:spcBef>
                <a:spcPts val="400"/>
              </a:spcBef>
              <a:spcAft>
                <a:spcPts val="0"/>
              </a:spcAft>
              <a:buClr>
                <a:schemeClr val="dk1"/>
              </a:buClr>
              <a:buSzPts val="2000"/>
              <a:buChar char="•"/>
            </a:pPr>
            <a:r>
              <a:rPr lang="en-US" sz="2000"/>
              <a:t>Strengthens relationships in families, teams, and organizations.</a:t>
            </a:r>
            <a:endParaRPr lang="en-US" sz="2000"/>
          </a:p>
          <a:p>
            <a:pPr marL="342900" lvl="0" indent="-342900" algn="l" rtl="0">
              <a:spcBef>
                <a:spcPts val="400"/>
              </a:spcBef>
              <a:spcAft>
                <a:spcPts val="0"/>
              </a:spcAft>
              <a:buClr>
                <a:schemeClr val="dk1"/>
              </a:buClr>
              <a:buSzPts val="2000"/>
              <a:buChar char="•"/>
            </a:pPr>
            <a:r>
              <a:rPr lang="en-US" sz="2000"/>
              <a:t>Increases motivation and personal empowerment.</a:t>
            </a:r>
            <a:endParaRPr lang="en-US" sz="2000"/>
          </a:p>
          <a:p>
            <a:pPr marL="342900" lvl="0" indent="-342900" algn="l" rtl="0">
              <a:spcBef>
                <a:spcPts val="400"/>
              </a:spcBef>
              <a:spcAft>
                <a:spcPts val="0"/>
              </a:spcAft>
              <a:buClr>
                <a:schemeClr val="dk1"/>
              </a:buClr>
              <a:buSzPts val="2000"/>
              <a:buChar char="•"/>
            </a:pPr>
            <a:r>
              <a:rPr lang="en-US" sz="2000"/>
              <a:t>Promotes deeper personal growth.</a:t>
            </a:r>
            <a:endParaRPr 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11" name="Shape 111"/>
        <p:cNvGrpSpPr/>
        <p:nvPr/>
      </p:nvGrpSpPr>
      <p:grpSpPr>
        <a:xfrm>
          <a:off x="0" y="0"/>
          <a:ext cx="0" cy="0"/>
          <a:chOff x="0" y="0"/>
          <a:chExt cx="0" cy="0"/>
        </a:xfrm>
      </p:grpSpPr>
      <p:sp>
        <p:nvSpPr>
          <p:cNvPr id="112" name="Google Shape;112;p5"/>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Listening in Successful Families</a:t>
            </a:r>
            <a:endParaRPr lang="en-US" sz="4400">
              <a:solidFill>
                <a:schemeClr val="dk1"/>
              </a:solidFill>
              <a:latin typeface="Calibri"/>
              <a:ea typeface="Calibri"/>
              <a:cs typeface="Calibri"/>
              <a:sym typeface="Calibri"/>
            </a:endParaRPr>
          </a:p>
        </p:txBody>
      </p:sp>
      <p:sp>
        <p:nvSpPr>
          <p:cNvPr id="113" name="Google Shape;113;p5"/>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a:t>They paid attention to their children’s emotions.</a:t>
            </a:r>
            <a:endParaRPr lang="en-US" sz="2000"/>
          </a:p>
          <a:p>
            <a:pPr marL="342900" lvl="0" indent="-342900" algn="l" rtl="0">
              <a:spcBef>
                <a:spcPts val="400"/>
              </a:spcBef>
              <a:spcAft>
                <a:spcPts val="0"/>
              </a:spcAft>
              <a:buClr>
                <a:schemeClr val="dk1"/>
              </a:buClr>
              <a:buSzPts val="2000"/>
              <a:buChar char="•"/>
            </a:pPr>
            <a:r>
              <a:rPr lang="en-US" sz="2000"/>
              <a:t>They recognized emotions as opportunity for closeness.</a:t>
            </a:r>
            <a:endParaRPr lang="en-US" sz="2000"/>
          </a:p>
          <a:p>
            <a:pPr marL="342900" lvl="0" indent="-342900" algn="l" rtl="0">
              <a:spcBef>
                <a:spcPts val="400"/>
              </a:spcBef>
              <a:spcAft>
                <a:spcPts val="0"/>
              </a:spcAft>
              <a:buClr>
                <a:schemeClr val="dk1"/>
              </a:buClr>
              <a:buSzPts val="2000"/>
              <a:buChar char="•"/>
            </a:pPr>
            <a:r>
              <a:rPr lang="en-US" sz="2000"/>
              <a:t>They listened empathically and validated feelings.</a:t>
            </a:r>
            <a:endParaRPr lang="en-US" sz="2000"/>
          </a:p>
          <a:p>
            <a:pPr marL="342900" lvl="0" indent="-342900" algn="l" rtl="0">
              <a:spcBef>
                <a:spcPts val="400"/>
              </a:spcBef>
              <a:spcAft>
                <a:spcPts val="0"/>
              </a:spcAft>
              <a:buClr>
                <a:schemeClr val="dk1"/>
              </a:buClr>
              <a:buSzPts val="2000"/>
              <a:buChar char="•"/>
            </a:pPr>
            <a:r>
              <a:rPr lang="en-US" sz="2000"/>
              <a:t>They helped their children name their feelings.</a:t>
            </a:r>
            <a:endParaRPr lang="en-US" sz="2000"/>
          </a:p>
          <a:p>
            <a:pPr marL="342900" lvl="0" indent="-342900" algn="l" rtl="0">
              <a:spcBef>
                <a:spcPts val="400"/>
              </a:spcBef>
              <a:spcAft>
                <a:spcPts val="0"/>
              </a:spcAft>
              <a:buClr>
                <a:schemeClr val="dk1"/>
              </a:buClr>
              <a:buSzPts val="2000"/>
              <a:buChar char="•"/>
            </a:pPr>
            <a:r>
              <a:rPr lang="en-US" sz="2000"/>
              <a:t>They set limits while helping their kids solve their own problems.</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7" name="Shape 117"/>
        <p:cNvGrpSpPr/>
        <p:nvPr/>
      </p:nvGrpSpPr>
      <p:grpSpPr>
        <a:xfrm>
          <a:off x="0" y="0"/>
          <a:ext cx="0" cy="0"/>
          <a:chOff x="0" y="0"/>
          <a:chExt cx="0" cy="0"/>
        </a:xfrm>
      </p:grpSpPr>
      <p:sp>
        <p:nvSpPr>
          <p:cNvPr id="118" name="Google Shape;118;p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Why We Are Not Good Listeners</a:t>
            </a:r>
            <a:endParaRPr lang="en-US" sz="4400">
              <a:solidFill>
                <a:schemeClr val="dk1"/>
              </a:solidFill>
              <a:latin typeface="Calibri"/>
              <a:ea typeface="Calibri"/>
              <a:cs typeface="Calibri"/>
              <a:sym typeface="Calibri"/>
            </a:endParaRPr>
          </a:p>
        </p:txBody>
      </p:sp>
      <p:sp>
        <p:nvSpPr>
          <p:cNvPr id="119" name="Google Shape;119;p6"/>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a:t>Our minds get bored and wander because we think at least three times faster than someone speaks.</a:t>
            </a:r>
            <a:endParaRPr lang="en-US" sz="2000"/>
          </a:p>
          <a:p>
            <a:pPr marL="342900" lvl="0" indent="-342900" algn="l" rtl="0">
              <a:spcBef>
                <a:spcPts val="400"/>
              </a:spcBef>
              <a:spcAft>
                <a:spcPts val="0"/>
              </a:spcAft>
              <a:buClr>
                <a:schemeClr val="dk1"/>
              </a:buClr>
              <a:buSzPts val="2000"/>
              <a:buChar char="•"/>
            </a:pPr>
            <a:r>
              <a:rPr lang="en-US" sz="2000"/>
              <a:t>Our natural tendency is to evaluate and agree and disagree with what we hear.</a:t>
            </a:r>
            <a:endParaRPr lang="en-US" sz="2000"/>
          </a:p>
          <a:p>
            <a:pPr marL="342900" lvl="0" indent="-342900" algn="l" rtl="0">
              <a:spcBef>
                <a:spcPts val="400"/>
              </a:spcBef>
              <a:spcAft>
                <a:spcPts val="0"/>
              </a:spcAft>
              <a:buClr>
                <a:schemeClr val="dk1"/>
              </a:buClr>
              <a:buSzPts val="2000"/>
              <a:buChar char="•"/>
            </a:pPr>
            <a:r>
              <a:rPr lang="en-US" sz="2000"/>
              <a:t>We listen to respond rather than understand.</a:t>
            </a:r>
            <a:endParaRPr lang="en-US" sz="2000"/>
          </a:p>
          <a:p>
            <a:pPr marL="342900" lvl="0" indent="-342900" algn="l" rtl="0">
              <a:spcBef>
                <a:spcPts val="400"/>
              </a:spcBef>
              <a:spcAft>
                <a:spcPts val="0"/>
              </a:spcAft>
              <a:buClr>
                <a:schemeClr val="dk1"/>
              </a:buClr>
              <a:buSzPts val="2000"/>
              <a:buChar char="•"/>
            </a:pPr>
            <a:r>
              <a:rPr lang="en-US" sz="2000"/>
              <a:t>We want to solve problems.</a:t>
            </a:r>
            <a:endParaRPr lang="en-US"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23" name="Shape 123"/>
        <p:cNvGrpSpPr/>
        <p:nvPr/>
      </p:nvGrpSpPr>
      <p:grpSpPr>
        <a:xfrm>
          <a:off x="0" y="0"/>
          <a:ext cx="0" cy="0"/>
          <a:chOff x="0" y="0"/>
          <a:chExt cx="0" cy="0"/>
        </a:xfrm>
      </p:grpSpPr>
      <p:sp>
        <p:nvSpPr>
          <p:cNvPr id="124" name="Google Shape;124;p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How to Stay Attuned to the Speaker</a:t>
            </a:r>
            <a:endParaRPr lang="en-US" sz="4400">
              <a:solidFill>
                <a:schemeClr val="dk1"/>
              </a:solidFill>
              <a:latin typeface="Calibri"/>
              <a:ea typeface="Calibri"/>
              <a:cs typeface="Calibri"/>
              <a:sym typeface="Calibri"/>
            </a:endParaRPr>
          </a:p>
        </p:txBody>
      </p:sp>
      <p:sp>
        <p:nvSpPr>
          <p:cNvPr id="125" name="Google Shape;125;p7"/>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a:t>Train your Brain to stay focused</a:t>
            </a:r>
            <a:endParaRPr lang="en-US" sz="2000"/>
          </a:p>
          <a:p>
            <a:pPr marL="342900" lvl="0" indent="-342900" algn="l" rtl="0">
              <a:spcBef>
                <a:spcPts val="400"/>
              </a:spcBef>
              <a:spcAft>
                <a:spcPts val="0"/>
              </a:spcAft>
              <a:buClr>
                <a:schemeClr val="dk1"/>
              </a:buClr>
              <a:buSzPts val="2000"/>
              <a:buChar char="•"/>
            </a:pPr>
            <a:r>
              <a:rPr lang="en-US" sz="2000"/>
              <a:t>Give the Speaker your Full Attention</a:t>
            </a:r>
            <a:endParaRPr lang="en-US" sz="2000"/>
          </a:p>
          <a:p>
            <a:pPr marL="342900" lvl="0" indent="-342900" algn="l" rtl="0">
              <a:spcBef>
                <a:spcPts val="400"/>
              </a:spcBef>
              <a:spcAft>
                <a:spcPts val="0"/>
              </a:spcAft>
              <a:buClr>
                <a:schemeClr val="dk1"/>
              </a:buClr>
              <a:buSzPts val="2000"/>
              <a:buChar char="•"/>
            </a:pPr>
            <a:r>
              <a:rPr lang="en-US" sz="2000"/>
              <a:t>Listen for the Main Points</a:t>
            </a:r>
            <a:endParaRPr lang="en-US" sz="2000"/>
          </a:p>
          <a:p>
            <a:pPr marL="342900" lvl="0" indent="-342900" algn="l" rtl="0">
              <a:spcBef>
                <a:spcPts val="400"/>
              </a:spcBef>
              <a:spcAft>
                <a:spcPts val="0"/>
              </a:spcAft>
              <a:buClr>
                <a:schemeClr val="dk1"/>
              </a:buClr>
              <a:buSzPts val="2000"/>
              <a:buChar char="•"/>
            </a:pPr>
            <a:r>
              <a:rPr lang="en-US" sz="2000"/>
              <a:t>Hear between the Lines</a:t>
            </a:r>
            <a:endParaRPr lang="en-US"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29" name="Shape 129"/>
        <p:cNvGrpSpPr/>
        <p:nvPr/>
      </p:nvGrpSpPr>
      <p:grpSpPr>
        <a:xfrm>
          <a:off x="0" y="0"/>
          <a:ext cx="0" cy="0"/>
          <a:chOff x="0" y="0"/>
          <a:chExt cx="0" cy="0"/>
        </a:xfrm>
      </p:grpSpPr>
      <p:sp>
        <p:nvSpPr>
          <p:cNvPr id="130" name="Google Shape;130;p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Poor Listening Responses</a:t>
            </a:r>
            <a:endParaRPr lang="en-US" sz="4400">
              <a:solidFill>
                <a:schemeClr val="dk1"/>
              </a:solidFill>
              <a:latin typeface="Calibri"/>
              <a:ea typeface="Calibri"/>
              <a:cs typeface="Calibri"/>
              <a:sym typeface="Calibri"/>
            </a:endParaRPr>
          </a:p>
        </p:txBody>
      </p:sp>
      <p:sp>
        <p:nvSpPr>
          <p:cNvPr id="131" name="Google Shape;131;p8"/>
          <p:cNvSpPr txBox="1"/>
          <p:nvPr>
            <p:ph type="body" idx="1"/>
          </p:nvPr>
        </p:nvSpPr>
        <p:spPr>
          <a:xfrm>
            <a:off x="457200" y="1417650"/>
            <a:ext cx="7684800" cy="3676200"/>
          </a:xfrm>
          <a:prstGeom prst="rect">
            <a:avLst/>
          </a:prstGeom>
          <a:noFill/>
          <a:ln>
            <a:noFill/>
          </a:ln>
        </p:spPr>
        <p:txBody>
          <a:bodyPr spcFirstLastPara="1" wrap="square" lIns="91425" tIns="45700" rIns="91425" bIns="45700" anchor="t" anchorCtr="0">
            <a:normAutofit fontScale="47500" lnSpcReduction="10000"/>
          </a:bodyPr>
          <a:lstStyle/>
          <a:p>
            <a:pPr marL="342900" lvl="0" indent="-317500" algn="l" rtl="0">
              <a:spcBef>
                <a:spcPts val="0"/>
              </a:spcBef>
              <a:spcAft>
                <a:spcPts val="0"/>
              </a:spcAft>
              <a:buClr>
                <a:srgbClr val="FF0000"/>
              </a:buClr>
              <a:buSzPct val="100000"/>
              <a:buChar char="•"/>
            </a:pPr>
            <a:r>
              <a:rPr lang="en-US" sz="3200">
                <a:solidFill>
                  <a:srgbClr val="FF0000"/>
                </a:solidFill>
              </a:rPr>
              <a:t>Formulating Response:</a:t>
            </a:r>
            <a:r>
              <a:rPr lang="en-US" sz="3200">
                <a:solidFill>
                  <a:schemeClr val="dk1"/>
                </a:solidFill>
              </a:rPr>
              <a:t> </a:t>
            </a:r>
            <a:br>
              <a:rPr lang="en-US" sz="3200">
                <a:solidFill>
                  <a:schemeClr val="dk1"/>
                </a:solidFill>
              </a:rPr>
            </a:br>
            <a:r>
              <a:rPr lang="en-US"/>
              <a:t>This is thinking about what you are going to do next instead of giving your full attention to the speaker in order to understand their message and point of view. You only catch a part of what they say because you are so busy thinking about your next words.</a:t>
            </a:r>
            <a:br>
              <a:rPr lang="en-US"/>
            </a:br>
            <a:endParaRPr lang="en-US"/>
          </a:p>
          <a:p>
            <a:pPr marL="342900" lvl="0" indent="-317500" algn="l" rtl="0">
              <a:spcBef>
                <a:spcPts val="385"/>
              </a:spcBef>
              <a:spcAft>
                <a:spcPts val="0"/>
              </a:spcAft>
              <a:buClr>
                <a:srgbClr val="FF0000"/>
              </a:buClr>
              <a:buSzPct val="100000"/>
              <a:buChar char="•"/>
            </a:pPr>
            <a:r>
              <a:rPr lang="en-US" sz="3200">
                <a:solidFill>
                  <a:srgbClr val="FF0000"/>
                </a:solidFill>
              </a:rPr>
              <a:t>Disagreeing and Arguing:</a:t>
            </a:r>
            <a:br>
              <a:rPr lang="en-US" sz="3200">
                <a:solidFill>
                  <a:srgbClr val="FF0000"/>
                </a:solidFill>
              </a:rPr>
            </a:br>
            <a:r>
              <a:rPr lang="en-US"/>
              <a:t> It is judging what somebody is saying and letting them know why they are wrong or why they are right instead of hearing them out to understand their point of view.</a:t>
            </a:r>
            <a:br>
              <a:rPr lang="en-US"/>
            </a:br>
            <a:endParaRPr lang="en-US"/>
          </a:p>
          <a:p>
            <a:pPr marL="342900" lvl="0" indent="-317500" algn="l" rtl="0">
              <a:spcBef>
                <a:spcPts val="385"/>
              </a:spcBef>
              <a:spcAft>
                <a:spcPts val="0"/>
              </a:spcAft>
              <a:buClr>
                <a:srgbClr val="FF0000"/>
              </a:buClr>
              <a:buSzPct val="100000"/>
              <a:buChar char="•"/>
            </a:pPr>
            <a:r>
              <a:rPr lang="en-US" sz="3200">
                <a:solidFill>
                  <a:srgbClr val="FF0000"/>
                </a:solidFill>
              </a:rPr>
              <a:t>One-upping:</a:t>
            </a:r>
            <a:r>
              <a:rPr lang="en-US"/>
              <a:t> </a:t>
            </a:r>
            <a:br>
              <a:rPr lang="en-US"/>
            </a:br>
            <a:r>
              <a:rPr lang="en-US"/>
              <a:t>You hear what somebody says but you come back with something else like: “You think that’s bad, here’s what happened to me or it reminds me of…”. In other words, you insert your own experience into the conversation rather than creating space for the speaker to feel heard. It is ok to share your own experience but you need to be aware of doing so, so you are not simply cutting someone off, interrupting their flow, and taking a conversation away when you want to keep the focus on them.</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35" name="Shape 135"/>
        <p:cNvGrpSpPr/>
        <p:nvPr/>
      </p:nvGrpSpPr>
      <p:grpSpPr>
        <a:xfrm>
          <a:off x="0" y="0"/>
          <a:ext cx="0" cy="0"/>
          <a:chOff x="0" y="0"/>
          <a:chExt cx="0" cy="0"/>
        </a:xfrm>
      </p:grpSpPr>
      <p:sp>
        <p:nvSpPr>
          <p:cNvPr id="136" name="Google Shape;136;p9"/>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Poor Listening Responses </a:t>
            </a:r>
            <a:endParaRPr lang="en-US" sz="4400">
              <a:solidFill>
                <a:schemeClr val="dk1"/>
              </a:solidFill>
              <a:latin typeface="Calibri"/>
              <a:ea typeface="Calibri"/>
              <a:cs typeface="Calibri"/>
              <a:sym typeface="Calibri"/>
            </a:endParaRPr>
          </a:p>
        </p:txBody>
      </p:sp>
      <p:sp>
        <p:nvSpPr>
          <p:cNvPr id="137" name="Google Shape;137;p9"/>
          <p:cNvSpPr txBox="1"/>
          <p:nvPr>
            <p:ph type="body" idx="1"/>
          </p:nvPr>
        </p:nvSpPr>
        <p:spPr>
          <a:xfrm>
            <a:off x="457200" y="1600200"/>
            <a:ext cx="8229600" cy="4473000"/>
          </a:xfrm>
          <a:prstGeom prst="rect">
            <a:avLst/>
          </a:prstGeom>
          <a:noFill/>
          <a:ln>
            <a:noFill/>
          </a:ln>
        </p:spPr>
        <p:txBody>
          <a:bodyPr spcFirstLastPara="1" wrap="square" lIns="91425" tIns="45700" rIns="91425" bIns="45700" anchor="t" anchorCtr="0">
            <a:normAutofit fontScale="47500" lnSpcReduction="20000"/>
          </a:bodyPr>
          <a:lstStyle/>
          <a:p>
            <a:pPr marL="342900" lvl="0" indent="-327025" algn="l" rtl="0">
              <a:spcBef>
                <a:spcPts val="0"/>
              </a:spcBef>
              <a:spcAft>
                <a:spcPts val="0"/>
              </a:spcAft>
              <a:buClr>
                <a:srgbClr val="FF0000"/>
              </a:buClr>
              <a:buSzPct val="63000"/>
              <a:buChar char="•"/>
            </a:pPr>
            <a:r>
              <a:rPr lang="en-US">
                <a:solidFill>
                  <a:srgbClr val="FF0000"/>
                </a:solidFill>
              </a:rPr>
              <a:t>Ignoring:</a:t>
            </a:r>
            <a:br>
              <a:rPr lang="en-US">
                <a:solidFill>
                  <a:srgbClr val="FF0000"/>
                </a:solidFill>
              </a:rPr>
            </a:br>
            <a:r>
              <a:rPr lang="en-US"/>
              <a:t> This being distracted or multitasking or simply not giving importance to what somebody has to say, and not giving your full attention.</a:t>
            </a:r>
            <a:br>
              <a:rPr lang="en-US"/>
            </a:br>
            <a:endParaRPr lang="en-US"/>
          </a:p>
          <a:p>
            <a:pPr marL="342900" lvl="0" indent="-327025" algn="l" rtl="0">
              <a:spcBef>
                <a:spcPts val="240"/>
              </a:spcBef>
              <a:spcAft>
                <a:spcPts val="0"/>
              </a:spcAft>
              <a:buClr>
                <a:srgbClr val="FF0000"/>
              </a:buClr>
              <a:buSzPct val="63000"/>
              <a:buChar char="•"/>
            </a:pPr>
            <a:r>
              <a:rPr lang="en-US">
                <a:solidFill>
                  <a:srgbClr val="FF0000"/>
                </a:solidFill>
              </a:rPr>
              <a:t>Lecturing and Moralizing:</a:t>
            </a:r>
            <a:r>
              <a:rPr lang="en-US"/>
              <a:t> </a:t>
            </a:r>
            <a:br>
              <a:rPr lang="en-US"/>
            </a:br>
            <a:r>
              <a:rPr lang="en-US"/>
              <a:t>This is telling others how they should think and feel, it is designed to guilt them and get them to change their thinking or behavior.</a:t>
            </a:r>
            <a:br>
              <a:rPr lang="en-US"/>
            </a:br>
            <a:endParaRPr lang="en-US"/>
          </a:p>
          <a:p>
            <a:pPr marL="342900" lvl="0" indent="-327025" algn="l" rtl="0">
              <a:spcBef>
                <a:spcPts val="240"/>
              </a:spcBef>
              <a:spcAft>
                <a:spcPts val="0"/>
              </a:spcAft>
              <a:buClr>
                <a:srgbClr val="FF0000"/>
              </a:buClr>
              <a:buSzPct val="63000"/>
              <a:buChar char="•"/>
            </a:pPr>
            <a:r>
              <a:rPr lang="en-US">
                <a:solidFill>
                  <a:srgbClr val="FF0000"/>
                </a:solidFill>
              </a:rPr>
              <a:t>Criticizing and Comparing:</a:t>
            </a:r>
            <a:r>
              <a:rPr lang="en-US"/>
              <a:t> </a:t>
            </a:r>
            <a:br>
              <a:rPr lang="en-US"/>
            </a:br>
            <a:r>
              <a:rPr lang="en-US"/>
              <a:t>This is finding fault or making negative comments about another’s behavior or character or the words that they are using in order to get them to do what you want.</a:t>
            </a:r>
            <a:br>
              <a:rPr lang="en-US"/>
            </a:br>
            <a:endParaRPr lang="en-US"/>
          </a:p>
          <a:p>
            <a:pPr marL="342900" lvl="0" indent="-327025" algn="l" rtl="0">
              <a:spcBef>
                <a:spcPts val="240"/>
              </a:spcBef>
              <a:spcAft>
                <a:spcPts val="0"/>
              </a:spcAft>
              <a:buClr>
                <a:srgbClr val="FF0000"/>
              </a:buClr>
              <a:buSzPct val="63000"/>
              <a:buChar char="•"/>
            </a:pPr>
            <a:r>
              <a:rPr lang="en-US">
                <a:solidFill>
                  <a:srgbClr val="FF0000"/>
                </a:solidFill>
              </a:rPr>
              <a:t>Giving Advice:</a:t>
            </a:r>
            <a:r>
              <a:rPr lang="en-US"/>
              <a:t> </a:t>
            </a:r>
            <a:br>
              <a:rPr lang="en-US"/>
            </a:br>
            <a:r>
              <a:rPr lang="en-US"/>
              <a:t>Telling somebody what to do and how to solve their problems. The intent here is usually good but it may not fit the speaker’s situation, and it also fails to respect the responsibility on the speaker to resolve his own problems. The advice will oftentimes be rejected, and even if it is accepted, what it does is breed a dependency and a lack of faith in one’s self. Of course, there are times when advice is helpful and called for but usually further into a conversation, once the speaker has really been heard and become open and receptive to input.</a:t>
            </a:r>
            <a:br>
              <a:rPr lang="en-US"/>
            </a:br>
            <a:endParaRPr lang="en-US"/>
          </a:p>
          <a:p>
            <a:pPr marL="342900" lvl="0" indent="-327025" algn="l" rtl="0">
              <a:spcBef>
                <a:spcPts val="240"/>
              </a:spcBef>
              <a:spcAft>
                <a:spcPts val="0"/>
              </a:spcAft>
              <a:buClr>
                <a:srgbClr val="FF0000"/>
              </a:buClr>
              <a:buSzPct val="63000"/>
              <a:buChar char="•"/>
            </a:pPr>
            <a:r>
              <a:rPr lang="en-US">
                <a:solidFill>
                  <a:srgbClr val="FF0000"/>
                </a:solidFill>
              </a:rPr>
              <a:t>Fixing: </a:t>
            </a:r>
            <a:br>
              <a:rPr lang="en-US">
                <a:solidFill>
                  <a:srgbClr val="FF0000"/>
                </a:solidFill>
              </a:rPr>
            </a:br>
            <a:r>
              <a:rPr lang="en-US"/>
              <a:t>This is taking over of fixing something for someone even. This is taking over and doing something that they could be for themselves.</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41" name="Shape 141"/>
        <p:cNvGrpSpPr/>
        <p:nvPr/>
      </p:nvGrpSpPr>
      <p:grpSpPr>
        <a:xfrm>
          <a:off x="0" y="0"/>
          <a:ext cx="0" cy="0"/>
          <a:chOff x="0" y="0"/>
          <a:chExt cx="0" cy="0"/>
        </a:xfrm>
      </p:grpSpPr>
      <p:sp>
        <p:nvSpPr>
          <p:cNvPr id="142" name="Google Shape;142;p10"/>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Poor Listening Responses </a:t>
            </a:r>
            <a:endParaRPr lang="en-US" sz="4400">
              <a:solidFill>
                <a:schemeClr val="dk1"/>
              </a:solidFill>
              <a:latin typeface="Calibri"/>
              <a:ea typeface="Calibri"/>
              <a:cs typeface="Calibri"/>
              <a:sym typeface="Calibri"/>
            </a:endParaRPr>
          </a:p>
        </p:txBody>
      </p:sp>
      <p:sp>
        <p:nvSpPr>
          <p:cNvPr id="143" name="Google Shape;143;p10"/>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rgbClr val="FF0000"/>
              </a:buClr>
              <a:buSzPts val="1800"/>
              <a:buChar char="•"/>
            </a:pPr>
            <a:r>
              <a:rPr lang="en-US" sz="1800">
                <a:solidFill>
                  <a:srgbClr val="FF0000"/>
                </a:solidFill>
              </a:rPr>
              <a:t>Sympathizing: </a:t>
            </a:r>
            <a:br>
              <a:rPr lang="en-US" sz="1800">
                <a:solidFill>
                  <a:srgbClr val="FF0000"/>
                </a:solidFill>
              </a:rPr>
            </a:br>
            <a:r>
              <a:rPr lang="en-US" sz="1300"/>
              <a:t>Feeling sorry for someone, it may seem caring but it reinforces a person’s complaining or negative feelings and rewards them for feeling bad instead of taking an action.</a:t>
            </a:r>
            <a:br>
              <a:rPr lang="en-US"/>
            </a:br>
            <a:endParaRPr lang="en-US"/>
          </a:p>
          <a:p>
            <a:pPr marL="342900" lvl="0" indent="-342900" algn="l" rtl="0">
              <a:spcBef>
                <a:spcPts val="400"/>
              </a:spcBef>
              <a:spcAft>
                <a:spcPts val="0"/>
              </a:spcAft>
              <a:buClr>
                <a:srgbClr val="FF0000"/>
              </a:buClr>
              <a:buSzPts val="1800"/>
              <a:buChar char="•"/>
            </a:pPr>
            <a:r>
              <a:rPr lang="en-US" sz="1800">
                <a:solidFill>
                  <a:srgbClr val="FF0000"/>
                </a:solidFill>
              </a:rPr>
              <a:t>Rescuing or Soothing:</a:t>
            </a:r>
            <a:r>
              <a:rPr lang="en-US"/>
              <a:t> </a:t>
            </a:r>
            <a:br>
              <a:rPr lang="en-US"/>
            </a:br>
            <a:r>
              <a:rPr lang="en-US" sz="1300"/>
              <a:t>Similar to sympathizing. This is trying to make somebody feel better rather than allowing them to own their experience. It is making somebody feel better by trying to minimize or undo the consequences of their actions.</a:t>
            </a:r>
            <a:br>
              <a:rPr lang="en-US" sz="1300"/>
            </a:br>
            <a:endParaRPr lang="en-US" sz="1300"/>
          </a:p>
          <a:p>
            <a:pPr marL="342900" lvl="0" indent="-342900" algn="l" rtl="0">
              <a:spcBef>
                <a:spcPts val="400"/>
              </a:spcBef>
              <a:spcAft>
                <a:spcPts val="0"/>
              </a:spcAft>
              <a:buClr>
                <a:srgbClr val="FF0000"/>
              </a:buClr>
              <a:buSzPts val="1800"/>
              <a:buChar char="•"/>
            </a:pPr>
            <a:r>
              <a:rPr lang="en-US" sz="1800">
                <a:solidFill>
                  <a:srgbClr val="FF0000"/>
                </a:solidFill>
              </a:rPr>
              <a:t>Giving In:</a:t>
            </a:r>
            <a:r>
              <a:rPr lang="en-US"/>
              <a:t> </a:t>
            </a:r>
            <a:br>
              <a:rPr lang="en-US"/>
            </a:br>
            <a:r>
              <a:rPr lang="en-US" sz="1200"/>
              <a:t>This is allowing the feelings or desires of another to cause you to back off your boundaries or point. Deep Listening means that you hear out what others have to say but it doesn’t necessarily mean that you have to agree or more importantly what I’m talking about now is accommodate their wishes just to keep the peace.</a:t>
            </a:r>
            <a:br>
              <a:rPr lang="en-US" sz="1200"/>
            </a:br>
            <a:endParaRPr lang="en-US" sz="1200"/>
          </a:p>
          <a:p>
            <a:pPr marL="342900" lvl="0" indent="-342900" algn="l" rtl="0">
              <a:spcBef>
                <a:spcPts val="400"/>
              </a:spcBef>
              <a:spcAft>
                <a:spcPts val="0"/>
              </a:spcAft>
              <a:buClr>
                <a:srgbClr val="FF0000"/>
              </a:buClr>
              <a:buSzPts val="1600"/>
              <a:buChar char="•"/>
            </a:pPr>
            <a:r>
              <a:rPr lang="en-US" sz="1600">
                <a:solidFill>
                  <a:srgbClr val="FF0000"/>
                </a:solidFill>
              </a:rPr>
              <a:t>Choosing Sides:</a:t>
            </a:r>
            <a:r>
              <a:rPr lang="en-US"/>
              <a:t> </a:t>
            </a:r>
            <a:br>
              <a:rPr lang="en-US"/>
            </a:br>
            <a:r>
              <a:rPr lang="en-US" sz="1200"/>
              <a:t>This is deciding that somebody is right and somebody is wrong instead of going for a deeper understanding and allowing a couple of people to talk through their differences. It perpetuates feelings of injustice and lack of understanding of each person’s point of view.</a:t>
            </a:r>
            <a:endParaRPr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47" name="Shape 147"/>
        <p:cNvGrpSpPr/>
        <p:nvPr/>
      </p:nvGrpSpPr>
      <p:grpSpPr>
        <a:xfrm>
          <a:off x="0" y="0"/>
          <a:ext cx="0" cy="0"/>
          <a:chOff x="0" y="0"/>
          <a:chExt cx="0" cy="0"/>
        </a:xfrm>
      </p:grpSpPr>
      <p:sp>
        <p:nvSpPr>
          <p:cNvPr id="148" name="Google Shape;148;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Problems with Poor Listening Responses</a:t>
            </a:r>
            <a:endParaRPr lang="en-US" sz="4400">
              <a:solidFill>
                <a:schemeClr val="dk1"/>
              </a:solidFill>
              <a:latin typeface="Calibri"/>
              <a:ea typeface="Calibri"/>
              <a:cs typeface="Calibri"/>
              <a:sym typeface="Calibri"/>
            </a:endParaRPr>
          </a:p>
        </p:txBody>
      </p:sp>
      <p:sp>
        <p:nvSpPr>
          <p:cNvPr id="149" name="Google Shape;149;p1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a:t>Invalidate the feelings and experience of the speaker.</a:t>
            </a:r>
            <a:endParaRPr lang="en-US"/>
          </a:p>
          <a:p>
            <a:pPr marL="342900" lvl="0" indent="-342900" algn="l" rtl="0">
              <a:spcBef>
                <a:spcPts val="400"/>
              </a:spcBef>
              <a:spcAft>
                <a:spcPts val="0"/>
              </a:spcAft>
              <a:buClr>
                <a:schemeClr val="dk1"/>
              </a:buClr>
              <a:buSzPts val="2000"/>
              <a:buChar char="•"/>
            </a:pPr>
            <a:r>
              <a:rPr lang="en-US"/>
              <a:t>Make it unsafe for someone to talk and so close down communication.</a:t>
            </a:r>
            <a:endParaRPr lang="en-US"/>
          </a:p>
          <a:p>
            <a:pPr marL="342900" lvl="0" indent="-342900" algn="l" rtl="0">
              <a:spcBef>
                <a:spcPts val="400"/>
              </a:spcBef>
              <a:spcAft>
                <a:spcPts val="0"/>
              </a:spcAft>
              <a:buClr>
                <a:schemeClr val="dk1"/>
              </a:buClr>
              <a:buSzPts val="2000"/>
              <a:buChar char="•"/>
            </a:pPr>
            <a:r>
              <a:rPr lang="en-US"/>
              <a:t>Rob the speaker if self-responsibility.</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53" name="Shape 153"/>
        <p:cNvGrpSpPr/>
        <p:nvPr/>
      </p:nvGrpSpPr>
      <p:grpSpPr>
        <a:xfrm>
          <a:off x="0" y="0"/>
          <a:ext cx="0" cy="0"/>
          <a:chOff x="0" y="0"/>
          <a:chExt cx="0" cy="0"/>
        </a:xfrm>
      </p:grpSpPr>
      <p:sp>
        <p:nvSpPr>
          <p:cNvPr id="154" name="Google Shape;154;p1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Bedrock Conversations</a:t>
            </a:r>
            <a:endParaRPr lang="en-US" sz="4400">
              <a:solidFill>
                <a:schemeClr val="dk1"/>
              </a:solidFill>
              <a:latin typeface="Calibri"/>
              <a:ea typeface="Calibri"/>
              <a:cs typeface="Calibri"/>
              <a:sym typeface="Calibri"/>
            </a:endParaRPr>
          </a:p>
        </p:txBody>
      </p:sp>
      <p:sp>
        <p:nvSpPr>
          <p:cNvPr id="155" name="Google Shape;155;p12"/>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a:t>Bedrock = getting deep enough to see real issues.</a:t>
            </a:r>
            <a:endParaRPr lang="en-US" sz="2000"/>
          </a:p>
          <a:p>
            <a:pPr marL="342900" lvl="0" indent="-342900" algn="l" rtl="0">
              <a:spcBef>
                <a:spcPts val="400"/>
              </a:spcBef>
              <a:spcAft>
                <a:spcPts val="0"/>
              </a:spcAft>
              <a:buClr>
                <a:schemeClr val="dk1"/>
              </a:buClr>
              <a:buSzPts val="2000"/>
              <a:buChar char="•"/>
            </a:pPr>
            <a:r>
              <a:rPr lang="en-US" sz="2000"/>
              <a:t>Requires respect, safety, and openness.</a:t>
            </a:r>
            <a:endParaRPr lang="en-US" sz="2000"/>
          </a:p>
          <a:p>
            <a:pPr marL="342900" lvl="0" indent="-342900" algn="l" rtl="0">
              <a:spcBef>
                <a:spcPts val="400"/>
              </a:spcBef>
              <a:spcAft>
                <a:spcPts val="0"/>
              </a:spcAft>
              <a:buClr>
                <a:schemeClr val="dk1"/>
              </a:buClr>
              <a:buSzPts val="2000"/>
              <a:buChar char="•"/>
            </a:pPr>
            <a:r>
              <a:rPr lang="en-US" sz="2000"/>
              <a:t>Not every conversation needs bedrock – purpose is to feel heard.</a:t>
            </a:r>
            <a:endParaRPr lang="en-US" sz="2000"/>
          </a:p>
          <a:p>
            <a:pPr marL="342900" lvl="0" indent="-342900" algn="l" rtl="0">
              <a:spcBef>
                <a:spcPts val="400"/>
              </a:spcBef>
              <a:spcAft>
                <a:spcPts val="0"/>
              </a:spcAft>
              <a:buClr>
                <a:schemeClr val="dk1"/>
              </a:buClr>
              <a:buSzPts val="2000"/>
              <a:buChar char="•"/>
            </a:pPr>
            <a:r>
              <a:rPr lang="en-US" sz="2000"/>
              <a:t>Helps find root causes and promotes growth, trust, and collaboration.</a:t>
            </a:r>
            <a:endParaRPr 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59" name="Shape 159"/>
        <p:cNvGrpSpPr/>
        <p:nvPr/>
      </p:nvGrpSpPr>
      <p:grpSpPr>
        <a:xfrm>
          <a:off x="0" y="0"/>
          <a:ext cx="0" cy="0"/>
          <a:chOff x="0" y="0"/>
          <a:chExt cx="0" cy="0"/>
        </a:xfrm>
      </p:grpSpPr>
      <p:sp>
        <p:nvSpPr>
          <p:cNvPr id="160" name="Google Shape;160;p1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Example of Bedrock</a:t>
            </a:r>
            <a:endParaRPr lang="en-US" sz="4400">
              <a:solidFill>
                <a:schemeClr val="dk1"/>
              </a:solidFill>
              <a:latin typeface="Calibri"/>
              <a:ea typeface="Calibri"/>
              <a:cs typeface="Calibri"/>
              <a:sym typeface="Calibri"/>
            </a:endParaRPr>
          </a:p>
        </p:txBody>
      </p:sp>
      <p:sp>
        <p:nvSpPr>
          <p:cNvPr id="161" name="Google Shape;161;p13"/>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None/>
            </a:pPr>
            <a:r>
              <a:rPr lang="en-US" sz="2000"/>
              <a:t>• Teams are a waste of time.</a:t>
            </a:r>
            <a:endParaRPr lang="en-US" sz="2000"/>
          </a:p>
          <a:p>
            <a:pPr marL="0" lvl="0" indent="0" algn="l" rtl="0">
              <a:spcBef>
                <a:spcPts val="400"/>
              </a:spcBef>
              <a:spcAft>
                <a:spcPts val="0"/>
              </a:spcAft>
              <a:buClr>
                <a:schemeClr val="dk1"/>
              </a:buClr>
              <a:buSzPts val="2000"/>
              <a:buNone/>
            </a:pPr>
            <a:r>
              <a:rPr lang="en-US" sz="2000"/>
              <a:t>• We can’t make decisions.</a:t>
            </a:r>
            <a:endParaRPr lang="en-US" sz="2000"/>
          </a:p>
          <a:p>
            <a:pPr marL="0" lvl="0" indent="0" algn="l" rtl="0">
              <a:spcBef>
                <a:spcPts val="400"/>
              </a:spcBef>
              <a:spcAft>
                <a:spcPts val="0"/>
              </a:spcAft>
              <a:buClr>
                <a:schemeClr val="dk1"/>
              </a:buClr>
              <a:buSzPts val="2000"/>
              <a:buNone/>
            </a:pPr>
            <a:r>
              <a:rPr lang="en-US" sz="2000"/>
              <a:t>• I’m not good at book learning.</a:t>
            </a:r>
            <a:endParaRPr lang="en-US" sz="2000"/>
          </a:p>
          <a:p>
            <a:pPr marL="0" lvl="0" indent="0" algn="l" rtl="0">
              <a:spcBef>
                <a:spcPts val="400"/>
              </a:spcBef>
              <a:spcAft>
                <a:spcPts val="0"/>
              </a:spcAft>
              <a:buClr>
                <a:schemeClr val="dk1"/>
              </a:buClr>
              <a:buSzPts val="2000"/>
              <a:buNone/>
            </a:pPr>
            <a:r>
              <a:rPr lang="en-US" sz="2000">
                <a:sym typeface="+mn-ea"/>
              </a:rPr>
              <a:t>• </a:t>
            </a:r>
            <a:r>
              <a:rPr lang="en-US" sz="2000"/>
              <a:t>Underlying bedrock: </a:t>
            </a:r>
            <a:r>
              <a:rPr lang="en-US" sz="2000">
                <a:solidFill>
                  <a:srgbClr val="FF0000"/>
                </a:solidFill>
              </a:rPr>
              <a:t>“I’m afraid of looking bad.”</a:t>
            </a:r>
            <a:endParaRPr sz="200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65" name="Shape 165"/>
        <p:cNvGrpSpPr/>
        <p:nvPr/>
      </p:nvGrpSpPr>
      <p:grpSpPr>
        <a:xfrm>
          <a:off x="0" y="0"/>
          <a:ext cx="0" cy="0"/>
          <a:chOff x="0" y="0"/>
          <a:chExt cx="0" cy="0"/>
        </a:xfrm>
      </p:grpSpPr>
      <p:sp>
        <p:nvSpPr>
          <p:cNvPr id="166" name="Google Shape;166;p1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Characteristics of Bedrock Conversations</a:t>
            </a:r>
            <a:endParaRPr lang="en-US" sz="4400">
              <a:solidFill>
                <a:schemeClr val="dk1"/>
              </a:solidFill>
              <a:latin typeface="Calibri"/>
              <a:ea typeface="Calibri"/>
              <a:cs typeface="Calibri"/>
              <a:sym typeface="Calibri"/>
            </a:endParaRPr>
          </a:p>
        </p:txBody>
      </p:sp>
      <p:sp>
        <p:nvSpPr>
          <p:cNvPr id="167" name="Google Shape;167;p14"/>
          <p:cNvSpPr txBox="1"/>
          <p:nvPr>
            <p:ph type="body" idx="1"/>
          </p:nvPr>
        </p:nvSpPr>
        <p:spPr>
          <a:xfrm>
            <a:off x="457200" y="1805950"/>
            <a:ext cx="8229600" cy="3886200"/>
          </a:xfrm>
          <a:prstGeom prst="rect">
            <a:avLst/>
          </a:prstGeom>
          <a:noFill/>
          <a:ln>
            <a:noFill/>
          </a:ln>
        </p:spPr>
        <p:txBody>
          <a:bodyPr spcFirstLastPara="1" wrap="square" lIns="91425" tIns="45700" rIns="91425" bIns="45700" anchor="t" anchorCtr="0">
            <a:normAutofit fontScale="85000"/>
          </a:bodyPr>
          <a:lstStyle/>
          <a:p>
            <a:pPr marL="342900" lvl="0" indent="-327660" algn="l" rtl="0">
              <a:spcBef>
                <a:spcPts val="0"/>
              </a:spcBef>
              <a:spcAft>
                <a:spcPts val="0"/>
              </a:spcAft>
              <a:buClr>
                <a:srgbClr val="FF0000"/>
              </a:buClr>
              <a:buSzPct val="100000"/>
              <a:buChar char="•"/>
            </a:pPr>
            <a:r>
              <a:rPr lang="en-US" sz="1600">
                <a:solidFill>
                  <a:srgbClr val="FF0000"/>
                </a:solidFill>
              </a:rPr>
              <a:t>There is an Attitude of Mutual Respect:</a:t>
            </a:r>
            <a:r>
              <a:rPr lang="en-US"/>
              <a:t> </a:t>
            </a:r>
            <a:br>
              <a:rPr lang="en-US"/>
            </a:br>
            <a:r>
              <a:rPr lang="en-US" sz="1200"/>
              <a:t>The speaker feels your respect even when there is a difference in age or position or authority.</a:t>
            </a:r>
          </a:p>
          <a:p>
            <a:pPr marL="342900" lvl="0" indent="-327660" algn="l" rtl="0">
              <a:spcBef>
                <a:spcPts val="400"/>
              </a:spcBef>
              <a:spcAft>
                <a:spcPts val="0"/>
              </a:spcAft>
              <a:buClr>
                <a:srgbClr val="FF0000"/>
              </a:buClr>
              <a:buSzPct val="100000"/>
              <a:buChar char="•"/>
            </a:pPr>
            <a:r>
              <a:rPr lang="en-US" sz="1600">
                <a:solidFill>
                  <a:srgbClr val="FF0000"/>
                </a:solidFill>
              </a:rPr>
              <a:t>It feels Safe:</a:t>
            </a:r>
            <a:r>
              <a:rPr lang="en-US"/>
              <a:t> </a:t>
            </a:r>
            <a:br>
              <a:rPr lang="en-US"/>
            </a:br>
            <a:r>
              <a:rPr lang="en-US" sz="1200"/>
              <a:t>The speaker can open up because they know your are not going to judge them. They know that you sincerely want to understand their point of view.</a:t>
            </a:r>
            <a:endParaRPr lang="en-US" sz="1200"/>
          </a:p>
          <a:p>
            <a:pPr marL="342900" lvl="0" indent="-327660" algn="l" rtl="0">
              <a:spcBef>
                <a:spcPts val="400"/>
              </a:spcBef>
              <a:spcAft>
                <a:spcPts val="0"/>
              </a:spcAft>
              <a:buClr>
                <a:srgbClr val="FF0000"/>
              </a:buClr>
              <a:buSzPct val="100000"/>
              <a:buChar char="•"/>
            </a:pPr>
            <a:r>
              <a:rPr lang="en-US" sz="1600">
                <a:solidFill>
                  <a:srgbClr val="FF0000"/>
                </a:solidFill>
              </a:rPr>
              <a:t>Your are Authentic:</a:t>
            </a:r>
            <a:r>
              <a:rPr lang="en-US"/>
              <a:t> </a:t>
            </a:r>
            <a:br>
              <a:rPr lang="en-US"/>
            </a:br>
            <a:r>
              <a:rPr lang="en-US" sz="1200"/>
              <a:t>You're not playing games. Your are being real with each other. The information that is shared is deep and honest. The Speaker is telling the truth not simply saying what you as a listener, want to hear.</a:t>
            </a:r>
            <a:endParaRPr lang="en-US" sz="1200"/>
          </a:p>
          <a:p>
            <a:pPr marL="342900" lvl="0" indent="-327660" algn="l" rtl="0">
              <a:spcBef>
                <a:spcPts val="400"/>
              </a:spcBef>
              <a:spcAft>
                <a:spcPts val="0"/>
              </a:spcAft>
              <a:buClr>
                <a:srgbClr val="FF0000"/>
              </a:buClr>
              <a:buSzPct val="100000"/>
              <a:buChar char="•"/>
            </a:pPr>
            <a:r>
              <a:rPr lang="en-US" sz="1600">
                <a:solidFill>
                  <a:srgbClr val="FF0000"/>
                </a:solidFill>
              </a:rPr>
              <a:t>Trust is High:</a:t>
            </a:r>
            <a:r>
              <a:rPr lang="en-US"/>
              <a:t> </a:t>
            </a:r>
            <a:br>
              <a:rPr lang="en-US"/>
            </a:br>
            <a:r>
              <a:rPr lang="en-US" sz="1200"/>
              <a:t>Each party trusts the motives of the other.</a:t>
            </a:r>
            <a:endParaRPr lang="en-US" sz="1200"/>
          </a:p>
          <a:p>
            <a:pPr marL="342900" lvl="0" indent="-329565" algn="l" rtl="0">
              <a:spcBef>
                <a:spcPts val="400"/>
              </a:spcBef>
              <a:spcAft>
                <a:spcPts val="0"/>
              </a:spcAft>
              <a:buClr>
                <a:srgbClr val="FF0000"/>
              </a:buClr>
              <a:buSzPct val="100000"/>
              <a:buChar char="•"/>
            </a:pPr>
            <a:r>
              <a:rPr lang="en-US" sz="1400">
                <a:solidFill>
                  <a:srgbClr val="FF0000"/>
                </a:solidFill>
              </a:rPr>
              <a:t>Concern for "US" not just "ME":</a:t>
            </a:r>
            <a:r>
              <a:rPr lang="en-US"/>
              <a:t> </a:t>
            </a:r>
            <a:br>
              <a:rPr lang="en-US"/>
            </a:br>
            <a:r>
              <a:rPr lang="en-US" sz="1200"/>
              <a:t>You're not pitted one against another. You're not really fighting each other but you are working together to understand or solve a common problem.</a:t>
            </a:r>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71" name="Shape 171"/>
        <p:cNvGrpSpPr/>
        <p:nvPr/>
      </p:nvGrpSpPr>
      <p:grpSpPr>
        <a:xfrm>
          <a:off x="0" y="0"/>
          <a:ext cx="0" cy="0"/>
          <a:chOff x="0" y="0"/>
          <a:chExt cx="0" cy="0"/>
        </a:xfrm>
      </p:grpSpPr>
      <p:sp>
        <p:nvSpPr>
          <p:cNvPr id="172" name="Google Shape;172;p15"/>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7 Guidelines for Effective Listening</a:t>
            </a:r>
            <a:endParaRPr lang="en-US" sz="4400">
              <a:solidFill>
                <a:schemeClr val="dk1"/>
              </a:solidFill>
              <a:latin typeface="Calibri"/>
              <a:ea typeface="Calibri"/>
              <a:cs typeface="Calibri"/>
              <a:sym typeface="Calibri"/>
            </a:endParaRPr>
          </a:p>
        </p:txBody>
      </p:sp>
      <p:sp>
        <p:nvSpPr>
          <p:cNvPr id="173" name="Google Shape;173;p15"/>
          <p:cNvSpPr txBox="1"/>
          <p:nvPr>
            <p:ph type="body" idx="1"/>
          </p:nvPr>
        </p:nvSpPr>
        <p:spPr>
          <a:xfrm>
            <a:off x="457200" y="1594485"/>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2000"/>
              <a:buChar char="•"/>
            </a:pPr>
            <a:r>
              <a:rPr lang="en-US" sz="2000"/>
              <a:t>Be totally attentive and present.</a:t>
            </a:r>
            <a:endParaRPr lang="en-US" sz="2000"/>
          </a:p>
          <a:p>
            <a:pPr marL="342900" lvl="0" indent="-342900" algn="l" rtl="0">
              <a:spcBef>
                <a:spcPts val="400"/>
              </a:spcBef>
              <a:spcAft>
                <a:spcPts val="0"/>
              </a:spcAft>
              <a:buClr>
                <a:schemeClr val="dk1"/>
              </a:buClr>
              <a:buSzPts val="2000"/>
              <a:buChar char="•"/>
            </a:pPr>
            <a:r>
              <a:rPr lang="en-US" sz="2000"/>
              <a:t>Maintain an open, non-judgmental mindset.</a:t>
            </a:r>
            <a:endParaRPr lang="en-US" sz="2000"/>
          </a:p>
          <a:p>
            <a:pPr marL="342900" lvl="0" indent="-342900" algn="l" rtl="0">
              <a:spcBef>
                <a:spcPts val="400"/>
              </a:spcBef>
              <a:spcAft>
                <a:spcPts val="0"/>
              </a:spcAft>
              <a:buClr>
                <a:schemeClr val="dk1"/>
              </a:buClr>
              <a:buSzPts val="2000"/>
              <a:buChar char="•"/>
            </a:pPr>
            <a:r>
              <a:rPr lang="en-US" sz="2000"/>
              <a:t>Use prompts (e.g., “uh-huh”, “okay”, “wow”) to encourage sharing.</a:t>
            </a:r>
            <a:endParaRPr lang="en-US" sz="2000"/>
          </a:p>
          <a:p>
            <a:pPr marL="342900" lvl="0" indent="-342900" algn="l" rtl="0">
              <a:spcBef>
                <a:spcPts val="400"/>
              </a:spcBef>
              <a:spcAft>
                <a:spcPts val="0"/>
              </a:spcAft>
              <a:buClr>
                <a:schemeClr val="dk1"/>
              </a:buClr>
              <a:buSzPts val="2000"/>
              <a:buChar char="•"/>
            </a:pPr>
            <a:r>
              <a:rPr lang="en-US" sz="2000"/>
              <a:t>Hear the deeper meaning, not just the words.</a:t>
            </a:r>
            <a:endParaRPr lang="en-US" sz="2000"/>
          </a:p>
          <a:p>
            <a:pPr marL="342900" lvl="0" indent="-342900" algn="l" rtl="0">
              <a:spcBef>
                <a:spcPts val="400"/>
              </a:spcBef>
              <a:spcAft>
                <a:spcPts val="0"/>
              </a:spcAft>
              <a:buClr>
                <a:schemeClr val="dk1"/>
              </a:buClr>
              <a:buSzPts val="2000"/>
              <a:buChar char="•"/>
            </a:pPr>
            <a:r>
              <a:rPr lang="en-US" sz="2000"/>
              <a:t>Ask clarifying questions to better understand.</a:t>
            </a:r>
            <a:br>
              <a:rPr lang="en-US" sz="2000"/>
            </a:br>
            <a:r>
              <a:rPr lang="en-US" sz="1400"/>
              <a:t>  </a:t>
            </a:r>
            <a:r>
              <a:rPr lang="en-US" sz="1400">
                <a:solidFill>
                  <a:srgbClr val="FF0000"/>
                </a:solidFill>
              </a:rPr>
              <a:t>- Could you share more about you mean by that?</a:t>
            </a:r>
            <a:endParaRPr sz="1400">
              <a:solidFill>
                <a:srgbClr val="FF0000"/>
              </a:solidFill>
            </a:endParaRPr>
          </a:p>
          <a:p>
            <a:pPr marL="0" lvl="0" indent="457200" algn="l" rtl="0">
              <a:spcBef>
                <a:spcPts val="240"/>
              </a:spcBef>
              <a:spcAft>
                <a:spcPts val="0"/>
              </a:spcAft>
              <a:buClr>
                <a:srgbClr val="FF0000"/>
              </a:buClr>
              <a:buSzPts val="1200"/>
              <a:buNone/>
            </a:pPr>
            <a:r>
              <a:rPr lang="en-US" sz="1400">
                <a:solidFill>
                  <a:srgbClr val="FF0000"/>
                </a:solidFill>
              </a:rPr>
              <a:t>- Can you help me understand how you arrived at that conclusion?</a:t>
            </a:r>
            <a:endParaRPr sz="1400">
              <a:solidFill>
                <a:srgbClr val="FF0000"/>
              </a:solidFill>
            </a:endParaRPr>
          </a:p>
          <a:p>
            <a:pPr marL="0" lvl="0" indent="457200" algn="l" rtl="0">
              <a:spcBef>
                <a:spcPts val="240"/>
              </a:spcBef>
              <a:spcAft>
                <a:spcPts val="0"/>
              </a:spcAft>
              <a:buClr>
                <a:srgbClr val="FF0000"/>
              </a:buClr>
              <a:buSzPts val="1200"/>
              <a:buNone/>
            </a:pPr>
            <a:r>
              <a:rPr lang="en-US" sz="1400">
                <a:solidFill>
                  <a:srgbClr val="FF0000"/>
                </a:solidFill>
              </a:rPr>
              <a:t>- What interpretation did you make of that comment/situation?</a:t>
            </a:r>
            <a:endParaRPr sz="1400">
              <a:solidFill>
                <a:srgbClr val="FF0000"/>
              </a:solidFill>
            </a:endParaRPr>
          </a:p>
          <a:p>
            <a:pPr marL="0" lvl="0" indent="457200" algn="l" rtl="0">
              <a:spcBef>
                <a:spcPts val="240"/>
              </a:spcBef>
              <a:spcAft>
                <a:spcPts val="0"/>
              </a:spcAft>
              <a:buClr>
                <a:srgbClr val="FF0000"/>
              </a:buClr>
              <a:buSzPts val="1200"/>
              <a:buNone/>
            </a:pPr>
            <a:r>
              <a:rPr lang="en-US" sz="1400">
                <a:solidFill>
                  <a:srgbClr val="FF0000"/>
                </a:solidFill>
              </a:rPr>
              <a:t>- What did you feel when that occurred?</a:t>
            </a:r>
            <a:endParaRPr sz="1400">
              <a:solidFill>
                <a:srgbClr val="FF0000"/>
              </a:solidFill>
            </a:endParaRPr>
          </a:p>
          <a:p>
            <a:pPr marL="0" lvl="0" indent="457200" algn="l" rtl="0">
              <a:spcBef>
                <a:spcPts val="240"/>
              </a:spcBef>
              <a:spcAft>
                <a:spcPts val="0"/>
              </a:spcAft>
              <a:buClr>
                <a:srgbClr val="FF0000"/>
              </a:buClr>
              <a:buSzPts val="1200"/>
              <a:buNone/>
            </a:pPr>
            <a:r>
              <a:rPr lang="en-US" sz="1400">
                <a:solidFill>
                  <a:srgbClr val="FF0000"/>
                </a:solidFill>
              </a:rPr>
              <a:t>- What else was going on?</a:t>
            </a:r>
            <a:endParaRPr sz="1400">
              <a:solidFill>
                <a:srgbClr val="FF0000"/>
              </a:solidFill>
            </a:endParaRPr>
          </a:p>
          <a:p>
            <a:pPr marL="0" lvl="0" indent="457200" algn="l" rtl="0">
              <a:spcBef>
                <a:spcPts val="240"/>
              </a:spcBef>
              <a:spcAft>
                <a:spcPts val="0"/>
              </a:spcAft>
              <a:buClr>
                <a:srgbClr val="FF0000"/>
              </a:buClr>
              <a:buSzPts val="1200"/>
              <a:buNone/>
            </a:pPr>
            <a:r>
              <a:rPr lang="en-US" sz="1400">
                <a:solidFill>
                  <a:srgbClr val="FF0000"/>
                </a:solidFill>
              </a:rPr>
              <a:t>- What happened next?</a:t>
            </a:r>
            <a:endParaRPr sz="1400">
              <a:solidFill>
                <a:srgbClr val="FF0000"/>
              </a:solidFill>
            </a:endParaRPr>
          </a:p>
          <a:p>
            <a:pPr marL="342900" lvl="0" indent="-342900" algn="l" rtl="0">
              <a:spcBef>
                <a:spcPts val="400"/>
              </a:spcBef>
              <a:spcAft>
                <a:spcPts val="0"/>
              </a:spcAft>
              <a:buClr>
                <a:schemeClr val="dk1"/>
              </a:buClr>
              <a:buSzPts val="2000"/>
              <a:buChar char="•"/>
            </a:pPr>
            <a:r>
              <a:rPr lang="en-US" sz="2000"/>
              <a:t>Restate or paraphrase what you’re hearing.</a:t>
            </a:r>
            <a:endParaRPr lang="en-US" sz="2000"/>
          </a:p>
          <a:p>
            <a:pPr marL="342900" lvl="0" indent="-342900" algn="l" rtl="0">
              <a:spcBef>
                <a:spcPts val="400"/>
              </a:spcBef>
              <a:spcAft>
                <a:spcPts val="0"/>
              </a:spcAft>
              <a:buClr>
                <a:schemeClr val="dk1"/>
              </a:buClr>
              <a:buSzPts val="2000"/>
              <a:buChar char="•"/>
            </a:pPr>
            <a:r>
              <a:rPr lang="en-US" sz="2000"/>
              <a:t>Be </a:t>
            </a:r>
            <a:r>
              <a:rPr lang="en-US" sz="2000"/>
              <a:t>okay with silence.</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77" name="Shape 177"/>
        <p:cNvGrpSpPr/>
        <p:nvPr/>
      </p:nvGrpSpPr>
      <p:grpSpPr>
        <a:xfrm>
          <a:off x="0" y="0"/>
          <a:ext cx="0" cy="0"/>
          <a:chOff x="0" y="0"/>
          <a:chExt cx="0" cy="0"/>
        </a:xfrm>
      </p:grpSpPr>
      <p:sp>
        <p:nvSpPr>
          <p:cNvPr id="178" name="Google Shape;178;p1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Observing Group Dynamics</a:t>
            </a:r>
            <a:endParaRPr lang="en-US" sz="4400">
              <a:solidFill>
                <a:schemeClr val="dk1"/>
              </a:solidFill>
              <a:latin typeface="Calibri"/>
              <a:ea typeface="Calibri"/>
              <a:cs typeface="Calibri"/>
              <a:sym typeface="Calibri"/>
            </a:endParaRPr>
          </a:p>
        </p:txBody>
      </p:sp>
      <p:sp>
        <p:nvSpPr>
          <p:cNvPr id="179" name="Google Shape;179;p16"/>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20000"/>
          </a:bodyPr>
          <a:lstStyle/>
          <a:p>
            <a:pPr marL="342900" lvl="0" indent="-342900" algn="l" rtl="0">
              <a:spcBef>
                <a:spcPts val="0"/>
              </a:spcBef>
              <a:spcAft>
                <a:spcPts val="0"/>
              </a:spcAft>
              <a:buClr>
                <a:srgbClr val="FF0000"/>
              </a:buClr>
              <a:buSzPts val="1600"/>
              <a:buChar char="•"/>
            </a:pPr>
            <a:r>
              <a:rPr lang="en-US" sz="1600">
                <a:solidFill>
                  <a:srgbClr val="FF0000"/>
                </a:solidFill>
              </a:rPr>
              <a:t>Atmosphere:</a:t>
            </a:r>
            <a:r>
              <a:rPr lang="en-US" sz="2000"/>
              <a:t> </a:t>
            </a:r>
            <a:br>
              <a:rPr lang="en-US" sz="2000"/>
            </a:br>
            <a:r>
              <a:rPr lang="en-US" sz="1200"/>
              <a:t>What's the overall atmosphere or tone of the group? Is it warm and friendly? Is that argumentative and competitive?</a:t>
            </a:r>
            <a:br>
              <a:rPr lang="en-US" sz="1200"/>
            </a:br>
            <a:endParaRPr sz="1200"/>
          </a:p>
          <a:p>
            <a:pPr marL="342900" lvl="0" indent="-342900" algn="l" rtl="0">
              <a:spcBef>
                <a:spcPts val="400"/>
              </a:spcBef>
              <a:spcAft>
                <a:spcPts val="0"/>
              </a:spcAft>
              <a:buClr>
                <a:srgbClr val="FF0000"/>
              </a:buClr>
              <a:buSzPts val="1600"/>
              <a:buChar char="•"/>
            </a:pPr>
            <a:r>
              <a:rPr lang="en-US" sz="1600">
                <a:solidFill>
                  <a:srgbClr val="FF0000"/>
                </a:solidFill>
              </a:rPr>
              <a:t>Participation:</a:t>
            </a:r>
            <a:r>
              <a:rPr lang="en-US" sz="2000"/>
              <a:t> </a:t>
            </a:r>
            <a:br>
              <a:rPr lang="en-US" sz="2000"/>
            </a:br>
            <a:r>
              <a:rPr lang="en-US" sz="1200"/>
              <a:t>Who is participating? Who's not participating? How and how much do people participate in the group?</a:t>
            </a:r>
            <a:br>
              <a:rPr lang="en-US" sz="1200"/>
            </a:br>
            <a:endParaRPr sz="1200"/>
          </a:p>
          <a:p>
            <a:pPr marL="342900" lvl="0" indent="-342900" algn="l" rtl="0">
              <a:spcBef>
                <a:spcPts val="400"/>
              </a:spcBef>
              <a:spcAft>
                <a:spcPts val="0"/>
              </a:spcAft>
              <a:buClr>
                <a:srgbClr val="FF0000"/>
              </a:buClr>
              <a:buSzPts val="1600"/>
              <a:buChar char="•"/>
            </a:pPr>
            <a:r>
              <a:rPr lang="en-US" sz="1600">
                <a:solidFill>
                  <a:srgbClr val="FF0000"/>
                </a:solidFill>
              </a:rPr>
              <a:t>Influence:</a:t>
            </a:r>
            <a:r>
              <a:rPr lang="en-US" sz="2000"/>
              <a:t> </a:t>
            </a:r>
            <a:br>
              <a:rPr lang="en-US" sz="2000"/>
            </a:br>
            <a:r>
              <a:rPr lang="en-US" sz="1200"/>
              <a:t>Who has influence and how do they exert that influence? And what's the style of influence that different people in the group use?</a:t>
            </a:r>
            <a:br>
              <a:rPr lang="en-US" sz="1200"/>
            </a:br>
            <a:endParaRPr lang="en-US" sz="1200"/>
          </a:p>
          <a:p>
            <a:pPr marL="342900" lvl="0" indent="-342900" algn="l" rtl="0">
              <a:spcBef>
                <a:spcPts val="400"/>
              </a:spcBef>
              <a:spcAft>
                <a:spcPts val="0"/>
              </a:spcAft>
              <a:buClr>
                <a:srgbClr val="FF0000"/>
              </a:buClr>
              <a:buSzPts val="1400"/>
              <a:buChar char="•"/>
            </a:pPr>
            <a:r>
              <a:rPr lang="en-US" sz="1400">
                <a:solidFill>
                  <a:srgbClr val="FF0000"/>
                </a:solidFill>
              </a:rPr>
              <a:t>Relationships:</a:t>
            </a:r>
            <a:r>
              <a:rPr lang="en-US" sz="2000"/>
              <a:t> </a:t>
            </a:r>
            <a:br>
              <a:rPr lang="en-US" sz="2000"/>
            </a:br>
            <a:r>
              <a:rPr lang="en-US" sz="1200"/>
              <a:t>How would you describe the bond and the quality of relationships between members? Are they engaged and attached? Do people feel included? And who are the harmonizers? Who are the people that try to keep some cohesion and how do they fulfill this role?</a:t>
            </a:r>
            <a:br>
              <a:rPr lang="en-US" sz="1200"/>
            </a:br>
            <a:endParaRPr sz="1200"/>
          </a:p>
          <a:p>
            <a:pPr marL="342900" lvl="0" indent="-342900" algn="l" rtl="0">
              <a:spcBef>
                <a:spcPts val="400"/>
              </a:spcBef>
              <a:spcAft>
                <a:spcPts val="0"/>
              </a:spcAft>
              <a:buClr>
                <a:srgbClr val="FF0000"/>
              </a:buClr>
              <a:buSzPts val="1400"/>
              <a:buChar char="•"/>
            </a:pPr>
            <a:r>
              <a:rPr lang="en-US" sz="1400">
                <a:solidFill>
                  <a:srgbClr val="FF0000"/>
                </a:solidFill>
              </a:rPr>
              <a:t>Task focus:</a:t>
            </a:r>
            <a:r>
              <a:rPr lang="en-US" sz="2000"/>
              <a:t> </a:t>
            </a:r>
            <a:br>
              <a:rPr lang="en-US" sz="2000"/>
            </a:br>
            <a:r>
              <a:rPr lang="en-US" sz="1200"/>
              <a:t>How focused is the group on accomplishing a task ? How do various members contribute toward the accomplishment of that task? Who facilitates moving toward the accomplishment and who gets in the way or impedes the accomplishment of the task?</a:t>
            </a:r>
            <a:br>
              <a:rPr lang="en-US" sz="1200"/>
            </a:br>
            <a:endParaRPr sz="1200"/>
          </a:p>
          <a:p>
            <a:pPr marL="342900" lvl="0" indent="-342900" algn="l" rtl="0">
              <a:spcBef>
                <a:spcPts val="400"/>
              </a:spcBef>
              <a:spcAft>
                <a:spcPts val="0"/>
              </a:spcAft>
              <a:buClr>
                <a:srgbClr val="FF0000"/>
              </a:buClr>
              <a:buSzPts val="1400"/>
              <a:buChar char="•"/>
            </a:pPr>
            <a:r>
              <a:rPr lang="en-US" sz="1400">
                <a:solidFill>
                  <a:srgbClr val="FF0000"/>
                </a:solidFill>
              </a:rPr>
              <a:t>Decision making:</a:t>
            </a:r>
            <a:r>
              <a:rPr lang="en-US" sz="2000"/>
              <a:t> </a:t>
            </a:r>
            <a:br>
              <a:rPr lang="en-US" sz="2000"/>
            </a:br>
            <a:r>
              <a:rPr lang="en-US" sz="1200"/>
              <a:t>What kinds of decisions does this group make and how do the members make decisions and who's involved and who's not involved?</a:t>
            </a:r>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83" name="Shape 183"/>
        <p:cNvGrpSpPr/>
        <p:nvPr/>
      </p:nvGrpSpPr>
      <p:grpSpPr>
        <a:xfrm>
          <a:off x="0" y="0"/>
          <a:ext cx="0" cy="0"/>
          <a:chOff x="0" y="0"/>
          <a:chExt cx="0" cy="0"/>
        </a:xfrm>
      </p:grpSpPr>
      <p:sp>
        <p:nvSpPr>
          <p:cNvPr id="184" name="Google Shape;184;p17"/>
          <p:cNvSpPr txBox="1"/>
          <p:nvPr>
            <p:ph type="title"/>
          </p:nvPr>
        </p:nvSpPr>
        <p:spPr>
          <a:xfrm>
            <a:off x="463550" y="2285683"/>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THANK YOU</a:t>
            </a:r>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7749</Words>
  <Application>WPS Presentation</Application>
  <PresentationFormat/>
  <Paragraphs>120</Paragraphs>
  <Slides>17</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17</vt:i4>
      </vt:variant>
    </vt:vector>
  </HeadingPairs>
  <TitlesOfParts>
    <vt:vector size="28" baseType="lpstr">
      <vt:lpstr>Arial</vt:lpstr>
      <vt:lpstr>SimSun</vt:lpstr>
      <vt:lpstr>Wingdings</vt:lpstr>
      <vt:lpstr>Arial</vt:lpstr>
      <vt:lpstr>Calibri</vt:lpstr>
      <vt:lpstr>Helvetica Neue</vt:lpstr>
      <vt:lpstr>Microsoft YaHei</vt:lpstr>
      <vt:lpstr>汉仪旗黑</vt:lpstr>
      <vt:lpstr>Arial Unicode MS</vt:lpstr>
      <vt:lpstr>宋体-简</vt:lpstr>
      <vt:lpstr>Office Theme</vt:lpstr>
      <vt:lpstr>The Power of Deep Listening</vt:lpstr>
      <vt:lpstr>What is Active Listening?</vt:lpstr>
      <vt:lpstr>Why Deep Listening Matters</vt:lpstr>
      <vt:lpstr>The Power of Active Listening</vt:lpstr>
      <vt:lpstr>Listening in Successful Families</vt:lpstr>
      <vt:lpstr>Why We Are Not Good Listeners</vt:lpstr>
      <vt:lpstr>How to Stay Attuned to the Speaker</vt:lpstr>
      <vt:lpstr>Poor Listening Responses</vt:lpstr>
      <vt:lpstr>Poor Listening Responses </vt:lpstr>
      <vt:lpstr>Poor Listening Responses </vt:lpstr>
      <vt:lpstr>Problems with Poor Listening Responses</vt:lpstr>
      <vt:lpstr>Bedrock Conversations</vt:lpstr>
      <vt:lpstr>Example of Bedrock</vt:lpstr>
      <vt:lpstr>Characteristics of Bedrock Conversations</vt:lpstr>
      <vt:lpstr>7 Guidelines for Effective Listening</vt:lpstr>
      <vt:lpstr>Observing Group Dynamics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Power of Deep Listening</dc:title>
  <dc:creator/>
  <cp:lastModifiedBy>Mohamed Elhawary</cp:lastModifiedBy>
  <cp:revision>1</cp:revision>
  <dcterms:created xsi:type="dcterms:W3CDTF">2025-11-17T09:31:17Z</dcterms:created>
  <dcterms:modified xsi:type="dcterms:W3CDTF">2025-11-17T09:31:17Z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2982B10EF1EC45929A5744863D6B90FD_12</vt:lpwstr>
  </property>
  <property fmtid="{D5CDD505-2E9C-101B-9397-08002B2CF9AE}" pid="3" name="KSOProductBuildVer">
    <vt:lpwstr>1033-12.1.23152.23152</vt:lpwstr>
  </property>
</Properties>
</file>