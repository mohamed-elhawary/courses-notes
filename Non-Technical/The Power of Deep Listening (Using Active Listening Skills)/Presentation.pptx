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9" r:id="rId14"/>
    <p:sldId id="270" r:id="rId15"/>
    <p:sldId id="271" r:id="rId16"/>
    <p:sldId id="274" r:id="rId18"/>
    <p:sldId id="275" r:id="rId19"/>
    <p:sldId id="27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t>The Power of Deep Listening</a:t>
            </a:r>
          </a:p>
        </p:txBody>
      </p:sp>
      <p:sp>
        <p:nvSpPr>
          <p:cNvPr id="3" name="Subtitle 2"/>
          <p:cNvSpPr>
            <a:spLocks noGrp="1"/>
          </p:cNvSpPr>
          <p:nvPr>
            <p:ph type="subTitle" idx="1"/>
          </p:nvPr>
        </p:nvSpPr>
        <p:spPr/>
        <p:txBody>
          <a:bodyPr/>
          <a:lstStyle/>
          <a:p>
            <a:r>
              <a:t>Using Active Listening Skills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What is </a:t>
            </a:r>
            <a:r>
              <a:rPr lang="en-US"/>
              <a:t>Active </a:t>
            </a:r>
            <a:r>
              <a:t>Listening?</a:t>
            </a:r>
          </a:p>
        </p:txBody>
      </p:sp>
      <p:sp>
        <p:nvSpPr>
          <p:cNvPr id="3" name="Content Placeholder 2"/>
          <p:cNvSpPr>
            <a:spLocks noGrp="1"/>
          </p:cNvSpPr>
          <p:nvPr>
            <p:ph idx="1"/>
          </p:nvPr>
        </p:nvSpPr>
        <p:spPr/>
        <p:txBody>
          <a:bodyPr/>
          <a:lstStyle/>
          <a:p>
            <a:pPr>
              <a:defRPr sz="2000"/>
            </a:pPr>
            <a:r>
              <a:rPr lang="en-US"/>
              <a:t>B</a:t>
            </a:r>
            <a:r>
              <a:t>eing fully present with another person.</a:t>
            </a:r>
          </a:p>
          <a:p>
            <a:pPr>
              <a:defRPr sz="2000"/>
            </a:pPr>
            <a:r>
              <a:t>Hearing more than words: tuning into deeper meaning, needs, and feelings.</a:t>
            </a:r>
          </a:p>
          <a:p>
            <a:pPr>
              <a:defRPr sz="2000"/>
            </a:pPr>
            <a:r>
              <a:t>Communicating that we understand, value and respect the speaker.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Why Deep Listening Matters</a:t>
            </a:r>
          </a:p>
        </p:txBody>
      </p:sp>
      <p:sp>
        <p:nvSpPr>
          <p:cNvPr id="3" name="Content Placeholder 2"/>
          <p:cNvSpPr>
            <a:spLocks noGrp="1"/>
          </p:cNvSpPr>
          <p:nvPr>
            <p:ph idx="1"/>
          </p:nvPr>
        </p:nvSpPr>
        <p:spPr/>
        <p:txBody>
          <a:bodyPr/>
          <a:lstStyle/>
          <a:p>
            <a:pPr>
              <a:defRPr sz="2000"/>
            </a:pPr>
            <a:r>
              <a:t>Helps you gather better information for decisions and problem-solving.</a:t>
            </a:r>
          </a:p>
          <a:p>
            <a:pPr>
              <a:defRPr sz="2000"/>
            </a:pPr>
            <a:r>
              <a:t>Makes people feel valued so they want to give their best.</a:t>
            </a:r>
          </a:p>
          <a:p>
            <a:pPr>
              <a:defRPr sz="2000"/>
            </a:pPr>
            <a:r>
              <a:t>Builds and transforms relationships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The Power of </a:t>
            </a:r>
            <a:r>
              <a:rPr lang="en-US"/>
              <a:t>Active </a:t>
            </a:r>
            <a:r>
              <a:t>Listening</a:t>
            </a:r>
          </a:p>
        </p:txBody>
      </p:sp>
      <p:sp>
        <p:nvSpPr>
          <p:cNvPr id="3" name="Content Placeholder 2"/>
          <p:cNvSpPr>
            <a:spLocks noGrp="1"/>
          </p:cNvSpPr>
          <p:nvPr>
            <p:ph idx="1"/>
          </p:nvPr>
        </p:nvSpPr>
        <p:spPr/>
        <p:txBody>
          <a:bodyPr/>
          <a:lstStyle/>
          <a:p>
            <a:pPr>
              <a:defRPr sz="2000"/>
            </a:pPr>
            <a:r>
              <a:t>Connects people and builds unity and trust.</a:t>
            </a:r>
          </a:p>
          <a:p>
            <a:pPr>
              <a:defRPr sz="2000"/>
            </a:pPr>
            <a:r>
              <a:t>Strengthens relationships in families, teams, and organizations.</a:t>
            </a:r>
          </a:p>
          <a:p>
            <a:pPr>
              <a:defRPr sz="2000"/>
            </a:pPr>
            <a:r>
              <a:t>Increases motivation and personal empowerment.</a:t>
            </a:r>
          </a:p>
          <a:p>
            <a:pPr>
              <a:defRPr sz="2000"/>
            </a:pPr>
            <a:r>
              <a:t>Promotes deeper personal growth.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Listening in Successful Families</a:t>
            </a:r>
          </a:p>
        </p:txBody>
      </p:sp>
      <p:sp>
        <p:nvSpPr>
          <p:cNvPr id="3" name="Content Placeholder 2"/>
          <p:cNvSpPr>
            <a:spLocks noGrp="1"/>
          </p:cNvSpPr>
          <p:nvPr>
            <p:ph idx="1"/>
          </p:nvPr>
        </p:nvSpPr>
        <p:spPr/>
        <p:txBody>
          <a:bodyPr/>
          <a:lstStyle/>
          <a:p>
            <a:pPr>
              <a:defRPr sz="2000"/>
            </a:pPr>
            <a:r>
              <a:rPr lang="en-US" altLang="en-US"/>
              <a:t>They paid attention to their children’s emotions.</a:t>
            </a:r>
            <a:endParaRPr lang="en-US" altLang="en-US"/>
          </a:p>
          <a:p>
            <a:pPr>
              <a:defRPr sz="2000"/>
            </a:pPr>
            <a:r>
              <a:rPr lang="en-US" altLang="en-US"/>
              <a:t>They recognized emotions as opportunity for closeness.</a:t>
            </a:r>
            <a:endParaRPr lang="en-US" altLang="en-US"/>
          </a:p>
          <a:p>
            <a:pPr>
              <a:defRPr sz="2000"/>
            </a:pPr>
            <a:r>
              <a:rPr lang="en-US" altLang="en-US"/>
              <a:t>They listened empathically and validated feelings.</a:t>
            </a:r>
            <a:endParaRPr lang="en-US" altLang="en-US"/>
          </a:p>
          <a:p>
            <a:pPr>
              <a:defRPr sz="2000"/>
            </a:pPr>
            <a:r>
              <a:rPr lang="en-US" altLang="en-US"/>
              <a:t>They helped their children name their feelings.</a:t>
            </a:r>
            <a:endParaRPr lang="en-US" altLang="en-US"/>
          </a:p>
          <a:p>
            <a:pPr>
              <a:defRPr sz="2000"/>
            </a:pPr>
            <a:r>
              <a:rPr lang="en-US" altLang="en-US"/>
              <a:t>They set limits while helping their kids solve their own problems.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Why We Are Not Good Listeners</a:t>
            </a:r>
          </a:p>
        </p:txBody>
      </p:sp>
      <p:sp>
        <p:nvSpPr>
          <p:cNvPr id="3" name="Content Placeholder 2"/>
          <p:cNvSpPr>
            <a:spLocks noGrp="1"/>
          </p:cNvSpPr>
          <p:nvPr>
            <p:ph idx="1"/>
          </p:nvPr>
        </p:nvSpPr>
        <p:spPr/>
        <p:txBody>
          <a:bodyPr/>
          <a:lstStyle/>
          <a:p>
            <a:pPr>
              <a:defRPr sz="2000"/>
            </a:pPr>
            <a:r>
              <a:rPr lang="en-US" altLang="en-US"/>
              <a:t>Our minds get bored and wander because we think at least three times faster than someone speaks.</a:t>
            </a:r>
            <a:endParaRPr lang="en-US" altLang="en-US"/>
          </a:p>
          <a:p>
            <a:pPr>
              <a:defRPr sz="2000"/>
            </a:pPr>
            <a:r>
              <a:rPr lang="en-US" altLang="en-US"/>
              <a:t>Our natural tendency is to evaluate and agree and disagree with what we hear.</a:t>
            </a:r>
            <a:endParaRPr lang="en-US" altLang="en-US"/>
          </a:p>
          <a:p>
            <a:pPr>
              <a:defRPr sz="2000"/>
            </a:pPr>
            <a:r>
              <a:rPr lang="en-US" altLang="en-US"/>
              <a:t>We listen to respond rather than understand.</a:t>
            </a:r>
            <a:endParaRPr lang="en-US" altLang="en-US"/>
          </a:p>
          <a:p>
            <a:pPr>
              <a:defRPr sz="2000"/>
            </a:pPr>
            <a:r>
              <a:rPr lang="en-US" altLang="en-US"/>
              <a:t>We want to solve problems.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How to Stay Attuned to the Speaker</a:t>
            </a:r>
          </a:p>
        </p:txBody>
      </p:sp>
      <p:sp>
        <p:nvSpPr>
          <p:cNvPr id="3" name="Content Placeholder 2"/>
          <p:cNvSpPr>
            <a:spLocks noGrp="1"/>
          </p:cNvSpPr>
          <p:nvPr>
            <p:ph idx="1"/>
          </p:nvPr>
        </p:nvSpPr>
        <p:spPr/>
        <p:txBody>
          <a:bodyPr/>
          <a:lstStyle/>
          <a:p>
            <a:pPr>
              <a:defRPr sz="2000"/>
            </a:pPr>
            <a:r>
              <a:rPr lang="en-US" altLang="en-US"/>
              <a:t>Train your Brain to stay focused</a:t>
            </a:r>
            <a:endParaRPr lang="en-US" altLang="en-US"/>
          </a:p>
          <a:p>
            <a:pPr>
              <a:defRPr sz="2000"/>
            </a:pPr>
            <a:r>
              <a:rPr lang="en-US" altLang="en-US"/>
              <a:t>Give the Speaker your Full Attention</a:t>
            </a:r>
            <a:endParaRPr lang="en-US" altLang="en-US"/>
          </a:p>
          <a:p>
            <a:pPr>
              <a:defRPr sz="2000"/>
            </a:pPr>
            <a:r>
              <a:rPr lang="en-US" altLang="en-US"/>
              <a:t>Listen for the Main Points</a:t>
            </a:r>
            <a:endParaRPr lang="en-US" altLang="en-US"/>
          </a:p>
          <a:p>
            <a:pPr>
              <a:defRPr sz="2000"/>
            </a:pPr>
            <a:r>
              <a:rPr lang="en-US" altLang="en-US"/>
              <a:t>Hear between the Lines</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Poor Listening Responses</a:t>
            </a:r>
          </a:p>
        </p:txBody>
      </p:sp>
      <p:sp>
        <p:nvSpPr>
          <p:cNvPr id="3" name="Content Placeholder 2"/>
          <p:cNvSpPr>
            <a:spLocks noGrp="1"/>
          </p:cNvSpPr>
          <p:nvPr>
            <p:ph idx="1"/>
          </p:nvPr>
        </p:nvSpPr>
        <p:spPr>
          <a:xfrm>
            <a:off x="457200" y="1600200"/>
            <a:ext cx="7684770" cy="3920490"/>
          </a:xfrm>
        </p:spPr>
        <p:txBody>
          <a:bodyPr>
            <a:normAutofit fontScale="60000"/>
          </a:bodyPr>
          <a:lstStyle/>
          <a:p>
            <a:pPr>
              <a:defRPr sz="2000"/>
            </a:pPr>
            <a:r>
              <a:rPr lang="en-US" altLang="en-US" sz="3200">
                <a:ln/>
                <a:solidFill>
                  <a:srgbClr val="FF0000"/>
                </a:solidFill>
                <a:effectLst>
                  <a:outerShdw blurRad="38100" dist="19050" dir="2700000" algn="tl" rotWithShape="0">
                    <a:schemeClr val="dk1">
                      <a:alpha val="40000"/>
                    </a:schemeClr>
                  </a:outerShdw>
                </a:effectLst>
              </a:rPr>
              <a:t>Formulating Response:</a:t>
            </a:r>
            <a:r>
              <a:rPr lang="en-US" altLang="en-US" sz="3200">
                <a:ln/>
                <a:solidFill>
                  <a:schemeClr val="tx1"/>
                </a:solidFill>
                <a:effectLst>
                  <a:outerShdw blurRad="38100" dist="19050" dir="2700000" algn="tl" rotWithShape="0">
                    <a:schemeClr val="dk1">
                      <a:alpha val="40000"/>
                    </a:schemeClr>
                  </a:outerShdw>
                </a:effectLst>
              </a:rPr>
              <a:t> </a:t>
            </a:r>
            <a:br>
              <a:rPr lang="en-US" altLang="en-US" sz="3200">
                <a:ln/>
                <a:solidFill>
                  <a:schemeClr val="tx1"/>
                </a:solidFill>
                <a:effectLst>
                  <a:outerShdw blurRad="38100" dist="19050" dir="2700000" algn="tl" rotWithShape="0">
                    <a:schemeClr val="dk1">
                      <a:alpha val="40000"/>
                    </a:schemeClr>
                  </a:outerShdw>
                </a:effectLst>
              </a:rPr>
            </a:br>
            <a:r>
              <a:rPr lang="en-US" altLang="en-US"/>
              <a:t>This is thinking about what you are going to do next instead of giving your full attention to the speaker in order to understand their message and point of view. You only catch a part of what they say because you are so busy thinking about your next words.</a:t>
            </a:r>
            <a:br>
              <a:rPr lang="en-US" altLang="en-US"/>
            </a:br>
            <a:endParaRPr lang="en-US" altLang="en-US"/>
          </a:p>
          <a:p>
            <a:pPr>
              <a:defRPr sz="2000"/>
            </a:pPr>
            <a:r>
              <a:rPr lang="en-US" altLang="en-US" sz="3200">
                <a:ln/>
                <a:solidFill>
                  <a:srgbClr val="FF0000"/>
                </a:solidFill>
                <a:effectLst>
                  <a:outerShdw blurRad="38100" dist="19050" dir="2700000" algn="tl" rotWithShape="0">
                    <a:schemeClr val="dk1">
                      <a:alpha val="40000"/>
                    </a:schemeClr>
                  </a:outerShdw>
                </a:effectLst>
              </a:rPr>
              <a:t>Disagreeing and Arguing:</a:t>
            </a:r>
            <a:br>
              <a:rPr lang="en-US" altLang="en-US" sz="3200">
                <a:ln/>
                <a:solidFill>
                  <a:srgbClr val="FF0000"/>
                </a:solidFill>
                <a:effectLst>
                  <a:outerShdw blurRad="38100" dist="19050" dir="2700000" algn="tl" rotWithShape="0">
                    <a:schemeClr val="dk1">
                      <a:alpha val="40000"/>
                    </a:schemeClr>
                  </a:outerShdw>
                </a:effectLst>
              </a:rPr>
            </a:br>
            <a:r>
              <a:rPr lang="en-US" altLang="en-US"/>
              <a:t> It is judging what somebody is saying and letting them know why they are wrong or why they are right instead of hearing them out to understand their point of view.</a:t>
            </a:r>
            <a:br>
              <a:rPr lang="en-US" altLang="en-US"/>
            </a:br>
            <a:endParaRPr lang="en-US" altLang="en-US"/>
          </a:p>
          <a:p>
            <a:pPr>
              <a:defRPr sz="2000"/>
            </a:pPr>
            <a:r>
              <a:rPr lang="en-US" altLang="en-US" sz="3200">
                <a:ln/>
                <a:solidFill>
                  <a:srgbClr val="FF0000"/>
                </a:solidFill>
                <a:effectLst>
                  <a:outerShdw blurRad="38100" dist="19050" dir="2700000" algn="tl" rotWithShape="0">
                    <a:schemeClr val="dk1">
                      <a:alpha val="40000"/>
                    </a:schemeClr>
                  </a:outerShdw>
                </a:effectLst>
              </a:rPr>
              <a:t>One-upping:</a:t>
            </a:r>
            <a:r>
              <a:rPr lang="en-US" altLang="en-US"/>
              <a:t> </a:t>
            </a:r>
            <a:br>
              <a:rPr lang="en-US" altLang="en-US"/>
            </a:br>
            <a:r>
              <a:rPr lang="en-US" altLang="en-US"/>
              <a:t>You hear what somebody says but you come back with something else like: “You think that’s bad, here’s what happened to me or it reminds me of…”. In other words, you insert your own experience into the conversation rather than creating space for the speaker to feel heard. It is ok to share your own experience but you need to be aware of doing so, so you are not simply cutting someone off, interrupting their flow, and taking a conversation away when you want to keep the focus on them.</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Poor Listening Responses </a:t>
            </a:r>
          </a:p>
        </p:txBody>
      </p:sp>
      <p:sp>
        <p:nvSpPr>
          <p:cNvPr id="3" name="Content Placeholder 2"/>
          <p:cNvSpPr>
            <a:spLocks noGrp="1"/>
          </p:cNvSpPr>
          <p:nvPr>
            <p:ph idx="1"/>
          </p:nvPr>
        </p:nvSpPr>
        <p:spPr/>
        <p:txBody>
          <a:bodyPr>
            <a:normAutofit fontScale="60000"/>
          </a:bodyPr>
          <a:lstStyle/>
          <a:p>
            <a:pPr>
              <a:defRPr sz="2000"/>
            </a:pPr>
            <a:r>
              <a:rPr lang="en-US" altLang="en-US">
                <a:solidFill>
                  <a:srgbClr val="FF0000"/>
                </a:solidFill>
                <a:effectLst>
                  <a:outerShdw blurRad="38100" dist="19050" dir="2700000" algn="tl" rotWithShape="0">
                    <a:schemeClr val="dk1">
                      <a:alpha val="40000"/>
                    </a:schemeClr>
                  </a:outerShdw>
                </a:effectLst>
                <a:sym typeface="+mn-ea"/>
              </a:rPr>
              <a:t>Ignoring:</a:t>
            </a:r>
            <a:br>
              <a:rPr lang="en-US" altLang="en-US">
                <a:solidFill>
                  <a:srgbClr val="FF0000"/>
                </a:solidFill>
                <a:effectLst>
                  <a:outerShdw blurRad="38100" dist="19050" dir="2700000" algn="tl" rotWithShape="0">
                    <a:schemeClr val="dk1">
                      <a:alpha val="40000"/>
                    </a:schemeClr>
                  </a:outerShdw>
                </a:effectLst>
                <a:sym typeface="+mn-ea"/>
              </a:rPr>
            </a:br>
            <a:r>
              <a:rPr lang="en-US" altLang="en-US">
                <a:sym typeface="+mn-ea"/>
              </a:rPr>
              <a:t> This being distracted or multitasking or simply not giving importance to what somebody has to say, and not giving your full attention.</a:t>
            </a:r>
            <a:br>
              <a:rPr lang="en-US" altLang="en-US">
                <a:sym typeface="+mn-ea"/>
              </a:rPr>
            </a:br>
            <a:endParaRPr lang="en-US" altLang="en-US"/>
          </a:p>
          <a:p>
            <a:pPr>
              <a:defRPr sz="2000"/>
            </a:pPr>
            <a:r>
              <a:rPr lang="en-US" altLang="en-US">
                <a:solidFill>
                  <a:srgbClr val="FF0000"/>
                </a:solidFill>
                <a:effectLst>
                  <a:outerShdw blurRad="38100" dist="19050" dir="2700000" algn="tl" rotWithShape="0">
                    <a:schemeClr val="dk1">
                      <a:alpha val="40000"/>
                    </a:schemeClr>
                  </a:outerShdw>
                </a:effectLst>
                <a:sym typeface="+mn-ea"/>
              </a:rPr>
              <a:t>Lecturing and Moralizing:</a:t>
            </a:r>
            <a:r>
              <a:rPr lang="en-US" altLang="en-US">
                <a:sym typeface="+mn-ea"/>
              </a:rPr>
              <a:t> </a:t>
            </a:r>
            <a:br>
              <a:rPr lang="en-US" altLang="en-US">
                <a:sym typeface="+mn-ea"/>
              </a:rPr>
            </a:br>
            <a:r>
              <a:rPr lang="en-US" altLang="en-US">
                <a:sym typeface="+mn-ea"/>
              </a:rPr>
              <a:t>This is telling others how they should think and feel, it is designed to guilt them and get them to change their thinking or behavior.</a:t>
            </a:r>
            <a:br>
              <a:rPr lang="en-US" altLang="en-US">
                <a:sym typeface="+mn-ea"/>
              </a:rPr>
            </a:br>
            <a:endParaRPr lang="en-US" altLang="en-US"/>
          </a:p>
          <a:p>
            <a:pPr>
              <a:defRPr sz="2000"/>
            </a:pPr>
            <a:r>
              <a:rPr lang="en-US" altLang="en-US">
                <a:solidFill>
                  <a:srgbClr val="FF0000"/>
                </a:solidFill>
                <a:effectLst>
                  <a:outerShdw blurRad="38100" dist="19050" dir="2700000" algn="tl" rotWithShape="0">
                    <a:schemeClr val="dk1">
                      <a:alpha val="40000"/>
                    </a:schemeClr>
                  </a:outerShdw>
                </a:effectLst>
                <a:sym typeface="+mn-ea"/>
              </a:rPr>
              <a:t>Criticizing and Comparing:</a:t>
            </a:r>
            <a:r>
              <a:rPr lang="en-US" altLang="en-US">
                <a:sym typeface="+mn-ea"/>
              </a:rPr>
              <a:t> </a:t>
            </a:r>
            <a:br>
              <a:rPr lang="en-US" altLang="en-US">
                <a:sym typeface="+mn-ea"/>
              </a:rPr>
            </a:br>
            <a:r>
              <a:rPr lang="en-US" altLang="en-US">
                <a:sym typeface="+mn-ea"/>
              </a:rPr>
              <a:t>This is finding fault or making negative comments about another’s behavior or character or the words that they are using in order to get them to do what you want.</a:t>
            </a:r>
            <a:br>
              <a:rPr lang="en-US" altLang="en-US">
                <a:sym typeface="+mn-ea"/>
              </a:rPr>
            </a:br>
            <a:endParaRPr lang="en-US" altLang="en-US"/>
          </a:p>
          <a:p>
            <a:pPr>
              <a:defRPr sz="2000"/>
            </a:pPr>
            <a:r>
              <a:rPr lang="en-US" altLang="en-US">
                <a:solidFill>
                  <a:srgbClr val="FF0000"/>
                </a:solidFill>
                <a:effectLst>
                  <a:outerShdw blurRad="38100" dist="19050" dir="2700000" algn="tl" rotWithShape="0">
                    <a:schemeClr val="dk1">
                      <a:alpha val="40000"/>
                    </a:schemeClr>
                  </a:outerShdw>
                </a:effectLst>
                <a:sym typeface="+mn-ea"/>
              </a:rPr>
              <a:t>Giving Advice:</a:t>
            </a:r>
            <a:r>
              <a:rPr lang="en-US" altLang="en-US">
                <a:sym typeface="+mn-ea"/>
              </a:rPr>
              <a:t> </a:t>
            </a:r>
            <a:br>
              <a:rPr lang="en-US" altLang="en-US">
                <a:sym typeface="+mn-ea"/>
              </a:rPr>
            </a:br>
            <a:r>
              <a:rPr lang="en-US" altLang="en-US">
                <a:sym typeface="+mn-ea"/>
              </a:rPr>
              <a:t>Telling somebody what to do and how to solve their problems. The intent here is usually good but it may not fit the speaker’s situation, and it also fails to respect the responsibility on the speaker to resolve his own problems. The advice will oftentimes be rejected, and even if it is accepted, what it does is breed a dependency and a lack of faith in one’s self. Of course, there are times when advice is helpful and called for but usually further into a conversation, once the speaker has really been heard and become open and receptive to input.</a:t>
            </a:r>
            <a:br>
              <a:rPr lang="en-US" altLang="en-US">
                <a:sym typeface="+mn-ea"/>
              </a:rPr>
            </a:br>
            <a:endParaRPr lang="en-US" altLang="en-US"/>
          </a:p>
          <a:p>
            <a:pPr>
              <a:defRPr sz="2000"/>
            </a:pPr>
            <a:r>
              <a:rPr lang="en-US" altLang="en-US">
                <a:solidFill>
                  <a:srgbClr val="FF0000"/>
                </a:solidFill>
                <a:effectLst>
                  <a:outerShdw blurRad="38100" dist="19050" dir="2700000" algn="tl" rotWithShape="0">
                    <a:schemeClr val="dk1">
                      <a:alpha val="40000"/>
                    </a:schemeClr>
                  </a:outerShdw>
                </a:effectLst>
                <a:sym typeface="+mn-ea"/>
              </a:rPr>
              <a:t>Fixing: </a:t>
            </a:r>
            <a:br>
              <a:rPr lang="en-US" altLang="en-US">
                <a:solidFill>
                  <a:srgbClr val="FF0000"/>
                </a:solidFill>
                <a:effectLst>
                  <a:outerShdw blurRad="38100" dist="19050" dir="2700000" algn="tl" rotWithShape="0">
                    <a:schemeClr val="dk1">
                      <a:alpha val="40000"/>
                    </a:schemeClr>
                  </a:outerShdw>
                </a:effectLst>
                <a:sym typeface="+mn-ea"/>
              </a:rPr>
            </a:br>
            <a:r>
              <a:rPr lang="en-US" altLang="en-US">
                <a:sym typeface="+mn-ea"/>
              </a:rPr>
              <a:t>This is taking over of fixing something for someone even. This is taking over and doing something that they could be for themselves.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Poor Listening Responses </a:t>
            </a:r>
          </a:p>
        </p:txBody>
      </p:sp>
      <p:sp>
        <p:nvSpPr>
          <p:cNvPr id="3" name="Content Placeholder 2"/>
          <p:cNvSpPr>
            <a:spLocks noGrp="1"/>
          </p:cNvSpPr>
          <p:nvPr>
            <p:ph idx="1"/>
          </p:nvPr>
        </p:nvSpPr>
        <p:spPr/>
        <p:txBody>
          <a:bodyPr>
            <a:normAutofit lnSpcReduction="10000"/>
          </a:bodyPr>
          <a:lstStyle/>
          <a:p>
            <a:pPr>
              <a:defRPr sz="2000"/>
            </a:pPr>
            <a:r>
              <a:rPr lang="en-US" altLang="en-US" sz="1800">
                <a:ln/>
                <a:solidFill>
                  <a:srgbClr val="FF0000"/>
                </a:solidFill>
                <a:effectLst>
                  <a:outerShdw blurRad="38100" dist="19050" dir="2700000" algn="tl" rotWithShape="0">
                    <a:schemeClr val="dk1">
                      <a:alpha val="40000"/>
                    </a:schemeClr>
                  </a:outerShdw>
                </a:effectLst>
              </a:rPr>
              <a:t>Sympathizing: </a:t>
            </a:r>
            <a:br>
              <a:rPr lang="en-US" altLang="en-US" sz="1800">
                <a:ln/>
                <a:solidFill>
                  <a:srgbClr val="FF0000"/>
                </a:solidFill>
                <a:effectLst>
                  <a:outerShdw blurRad="38100" dist="19050" dir="2700000" algn="tl" rotWithShape="0">
                    <a:schemeClr val="dk1">
                      <a:alpha val="40000"/>
                    </a:schemeClr>
                  </a:outerShdw>
                </a:effectLst>
              </a:rPr>
            </a:br>
            <a:r>
              <a:rPr lang="en-US" altLang="en-US" sz="1300"/>
              <a:t>Feeling sorry for someone, it may seem caring but it reinforces a person’s complaining or negative feelings and rewards them for feeling bad instead of taking an action.</a:t>
            </a:r>
            <a:br>
              <a:rPr lang="en-US" altLang="en-US"/>
            </a:br>
            <a:endParaRPr lang="en-US" altLang="en-US"/>
          </a:p>
          <a:p>
            <a:pPr>
              <a:defRPr sz="2000"/>
            </a:pPr>
            <a:r>
              <a:rPr lang="en-US" altLang="en-US" sz="1800">
                <a:ln/>
                <a:solidFill>
                  <a:srgbClr val="FF0000"/>
                </a:solidFill>
                <a:effectLst>
                  <a:outerShdw blurRad="38100" dist="19050" dir="2700000" algn="tl" rotWithShape="0">
                    <a:schemeClr val="dk1">
                      <a:alpha val="40000"/>
                    </a:schemeClr>
                  </a:outerShdw>
                </a:effectLst>
              </a:rPr>
              <a:t>Rescuing or Soothing:</a:t>
            </a:r>
            <a:r>
              <a:rPr lang="en-US" altLang="en-US"/>
              <a:t> </a:t>
            </a:r>
            <a:br>
              <a:rPr lang="en-US" altLang="en-US"/>
            </a:br>
            <a:r>
              <a:rPr lang="en-US" altLang="en-US" sz="1300"/>
              <a:t>Similar to sympathizing. This is trying to make somebody feel better rather than allowing them to own their experience. It is making somebody feel better by trying to minimize or undo the consequences of their actions.</a:t>
            </a:r>
            <a:br>
              <a:rPr lang="en-US" altLang="en-US" sz="1300"/>
            </a:br>
            <a:endParaRPr lang="en-US" altLang="en-US"/>
          </a:p>
          <a:p>
            <a:pPr>
              <a:defRPr sz="2000"/>
            </a:pPr>
            <a:r>
              <a:rPr lang="en-US" altLang="en-US" sz="1800">
                <a:ln/>
                <a:solidFill>
                  <a:srgbClr val="FF0000"/>
                </a:solidFill>
                <a:effectLst>
                  <a:outerShdw blurRad="38100" dist="19050" dir="2700000" algn="tl" rotWithShape="0">
                    <a:schemeClr val="dk1">
                      <a:alpha val="40000"/>
                    </a:schemeClr>
                  </a:outerShdw>
                </a:effectLst>
              </a:rPr>
              <a:t>Giving In:</a:t>
            </a:r>
            <a:r>
              <a:rPr lang="en-US" altLang="en-US"/>
              <a:t> </a:t>
            </a:r>
            <a:br>
              <a:rPr lang="en-US" altLang="en-US"/>
            </a:br>
            <a:r>
              <a:rPr lang="en-US" altLang="en-US" sz="1200"/>
              <a:t>This is allowing the feelings or desires of another to cause you to back off your boundaries or point. Deep Listening means that you hear out what others have to say but it doesn’t necessarily mean that you have to agree or more importantly what I’m talking about now is accommodate their wishes just to keep the peace.</a:t>
            </a:r>
            <a:br>
              <a:rPr lang="en-US" altLang="en-US" sz="1200"/>
            </a:br>
            <a:endParaRPr lang="en-US" altLang="en-US"/>
          </a:p>
          <a:p>
            <a:pPr>
              <a:defRPr sz="2000"/>
            </a:pPr>
            <a:r>
              <a:rPr lang="en-US" altLang="en-US" sz="1600">
                <a:ln/>
                <a:solidFill>
                  <a:srgbClr val="FF0000"/>
                </a:solidFill>
                <a:effectLst>
                  <a:outerShdw blurRad="38100" dist="19050" dir="2700000" algn="tl" rotWithShape="0">
                    <a:schemeClr val="dk1">
                      <a:alpha val="40000"/>
                    </a:schemeClr>
                  </a:outerShdw>
                </a:effectLst>
              </a:rPr>
              <a:t>Choosing Sides:</a:t>
            </a:r>
            <a:r>
              <a:rPr lang="en-US" altLang="en-US"/>
              <a:t> </a:t>
            </a:r>
            <a:br>
              <a:rPr lang="en-US" altLang="en-US"/>
            </a:br>
            <a:r>
              <a:rPr lang="en-US" altLang="en-US" sz="1200"/>
              <a:t>This is deciding that somebody is right and somebody is wrong instead of going for a deeper understanding and allowing a couple of people to talk through their differences. It perpetuates feelings of injustice and lack of understanding of each person’s point of view.</a:t>
            </a:r>
            <a:endParaRPr lang="en-US"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Problems with Poor Listening Responses</a:t>
            </a:r>
          </a:p>
        </p:txBody>
      </p:sp>
      <p:sp>
        <p:nvSpPr>
          <p:cNvPr id="3" name="Content Placeholder 2"/>
          <p:cNvSpPr>
            <a:spLocks noGrp="1"/>
          </p:cNvSpPr>
          <p:nvPr>
            <p:ph idx="1"/>
          </p:nvPr>
        </p:nvSpPr>
        <p:spPr/>
        <p:txBody>
          <a:bodyPr/>
          <a:lstStyle/>
          <a:p>
            <a:pPr>
              <a:defRPr sz="2000"/>
            </a:pPr>
            <a:r>
              <a:rPr lang="en-US" altLang="en-US"/>
              <a:t>Invalidate the feelings and experience of the speaker.</a:t>
            </a:r>
            <a:endParaRPr lang="en-US" altLang="en-US"/>
          </a:p>
          <a:p>
            <a:pPr>
              <a:defRPr sz="2000"/>
            </a:pPr>
            <a:r>
              <a:rPr lang="en-US" altLang="en-US"/>
              <a:t>Make it unsafe for someone to talk and so close down communication.</a:t>
            </a:r>
            <a:endParaRPr lang="en-US" altLang="en-US"/>
          </a:p>
          <a:p>
            <a:pPr>
              <a:defRPr sz="2000"/>
            </a:pPr>
            <a:r>
              <a:rPr lang="en-US" altLang="en-US"/>
              <a:t>Rob the speaker if self-responsibility.</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Bedrock Conversations</a:t>
            </a:r>
          </a:p>
        </p:txBody>
      </p:sp>
      <p:sp>
        <p:nvSpPr>
          <p:cNvPr id="3" name="Content Placeholder 2"/>
          <p:cNvSpPr>
            <a:spLocks noGrp="1"/>
          </p:cNvSpPr>
          <p:nvPr>
            <p:ph idx="1"/>
          </p:nvPr>
        </p:nvSpPr>
        <p:spPr/>
        <p:txBody>
          <a:bodyPr/>
          <a:lstStyle/>
          <a:p>
            <a:pPr>
              <a:defRPr sz="2000"/>
            </a:pPr>
            <a:r>
              <a:t>Bedrock = getting deep enough to see real issues.</a:t>
            </a:r>
          </a:p>
          <a:p>
            <a:pPr>
              <a:defRPr sz="2000"/>
            </a:pPr>
            <a:r>
              <a:t>Requires respect, safety, and openness.</a:t>
            </a:r>
          </a:p>
          <a:p>
            <a:pPr>
              <a:defRPr sz="2000"/>
            </a:pPr>
            <a:r>
              <a:t>Not every conversation needs bedrock – purpose is to feel heard.</a:t>
            </a:r>
          </a:p>
          <a:p>
            <a:pPr>
              <a:defRPr sz="2000"/>
            </a:pPr>
            <a:r>
              <a:t>Helps find root causes and promotes growth, trust, and collaboration.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Example of Bedrock</a:t>
            </a:r>
          </a:p>
        </p:txBody>
      </p:sp>
      <p:sp>
        <p:nvSpPr>
          <p:cNvPr id="3" name="Content Placeholder 2"/>
          <p:cNvSpPr>
            <a:spLocks noGrp="1"/>
          </p:cNvSpPr>
          <p:nvPr>
            <p:ph idx="1"/>
          </p:nvPr>
        </p:nvSpPr>
        <p:spPr/>
        <p:txBody>
          <a:bodyPr/>
          <a:lstStyle/>
          <a:p>
            <a:pPr marL="0" indent="0">
              <a:buNone/>
              <a:defRPr sz="2000"/>
            </a:pPr>
            <a:r>
              <a:t>• Teams are a waste of time.</a:t>
            </a:r>
          </a:p>
          <a:p>
            <a:pPr marL="0" indent="0">
              <a:buNone/>
              <a:defRPr sz="2000"/>
            </a:pPr>
            <a:r>
              <a:t>• We can’t make decisions.</a:t>
            </a:r>
          </a:p>
          <a:p>
            <a:pPr marL="0" indent="0">
              <a:buNone/>
              <a:defRPr sz="2000"/>
            </a:pPr>
            <a:r>
              <a:t>• I’m not good at book learning.</a:t>
            </a:r>
          </a:p>
          <a:p>
            <a:pPr>
              <a:defRPr sz="2000"/>
            </a:pPr>
            <a:r>
              <a:t>Underlying bedrock: </a:t>
            </a:r>
            <a:r>
              <a:rPr>
                <a:solidFill>
                  <a:srgbClr val="FF0000"/>
                </a:solidFill>
              </a:rPr>
              <a:t>“I’m afraid of looking bad.”</a:t>
            </a:r>
            <a:endParaRPr>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Characteristics of Bedrock Conversations</a:t>
            </a:r>
          </a:p>
        </p:txBody>
      </p:sp>
      <p:sp>
        <p:nvSpPr>
          <p:cNvPr id="3" name="Content Placeholder 2"/>
          <p:cNvSpPr>
            <a:spLocks noGrp="1"/>
          </p:cNvSpPr>
          <p:nvPr>
            <p:ph idx="1"/>
          </p:nvPr>
        </p:nvSpPr>
        <p:spPr/>
        <p:txBody>
          <a:bodyPr>
            <a:normAutofit lnSpcReduction="10000"/>
          </a:bodyPr>
          <a:lstStyle/>
          <a:p>
            <a:pPr>
              <a:defRPr sz="2000"/>
            </a:pPr>
            <a:r>
              <a:rPr lang="en-US" altLang="en-US" sz="1600">
                <a:ln/>
                <a:solidFill>
                  <a:srgbClr val="FF0000"/>
                </a:solidFill>
                <a:effectLst>
                  <a:outerShdw blurRad="38100" dist="19050" dir="2700000" algn="tl" rotWithShape="0">
                    <a:schemeClr val="dk1">
                      <a:alpha val="40000"/>
                    </a:schemeClr>
                  </a:outerShdw>
                </a:effectLst>
              </a:rPr>
              <a:t>There is an Attitude of Mutual Respect:</a:t>
            </a:r>
            <a:r>
              <a:rPr lang="en-US" altLang="en-US"/>
              <a:t> </a:t>
            </a:r>
            <a:br>
              <a:rPr lang="en-US" altLang="en-US"/>
            </a:br>
            <a:r>
              <a:rPr lang="en-US" altLang="en-US" sz="1200"/>
              <a:t>The speaker feels your respect even when there is a difference in age or position or authority.</a:t>
            </a:r>
            <a:endParaRPr lang="en-US" altLang="en-US" sz="1200"/>
          </a:p>
          <a:p>
            <a:pPr marL="0" indent="0">
              <a:buNone/>
              <a:defRPr sz="2000"/>
            </a:pPr>
            <a:endParaRPr lang="en-US" altLang="en-US"/>
          </a:p>
          <a:p>
            <a:pPr>
              <a:defRPr sz="2000"/>
            </a:pPr>
            <a:r>
              <a:rPr lang="en-US" altLang="en-US" sz="1600">
                <a:ln/>
                <a:solidFill>
                  <a:srgbClr val="FF0000"/>
                </a:solidFill>
                <a:effectLst>
                  <a:outerShdw blurRad="38100" dist="19050" dir="2700000" algn="tl" rotWithShape="0">
                    <a:schemeClr val="dk1">
                      <a:alpha val="40000"/>
                    </a:schemeClr>
                  </a:outerShdw>
                </a:effectLst>
              </a:rPr>
              <a:t>It feels Safe:</a:t>
            </a:r>
            <a:r>
              <a:rPr lang="en-US" altLang="en-US"/>
              <a:t> </a:t>
            </a:r>
            <a:br>
              <a:rPr lang="en-US" altLang="en-US"/>
            </a:br>
            <a:r>
              <a:rPr lang="en-US" altLang="en-US" sz="1200"/>
              <a:t>The speaker can open up because they know your are not going to judge them. They know that you sincerely want to understand their point of view.</a:t>
            </a:r>
            <a:br>
              <a:rPr lang="en-US" altLang="en-US" sz="1200"/>
            </a:br>
            <a:endParaRPr lang="en-US" altLang="en-US"/>
          </a:p>
          <a:p>
            <a:pPr>
              <a:defRPr sz="2000"/>
            </a:pPr>
            <a:r>
              <a:rPr lang="en-US" altLang="en-US" sz="1600">
                <a:ln/>
                <a:solidFill>
                  <a:srgbClr val="FF0000"/>
                </a:solidFill>
                <a:effectLst>
                  <a:outerShdw blurRad="38100" dist="19050" dir="2700000" algn="tl" rotWithShape="0">
                    <a:schemeClr val="dk1">
                      <a:alpha val="40000"/>
                    </a:schemeClr>
                  </a:outerShdw>
                </a:effectLst>
              </a:rPr>
              <a:t>Your are Authentic:</a:t>
            </a:r>
            <a:r>
              <a:rPr lang="en-US" altLang="en-US"/>
              <a:t> </a:t>
            </a:r>
            <a:br>
              <a:rPr lang="en-US" altLang="en-US"/>
            </a:br>
            <a:r>
              <a:rPr lang="en-US" altLang="en-US" sz="1200"/>
              <a:t>You're not playing games. Your are being real with each other. The information that is shared is deep and honest. The Speaker is telling the truth not simply saying what you as a listener, want to hear.</a:t>
            </a:r>
            <a:br>
              <a:rPr lang="en-US" altLang="en-US" sz="1200"/>
            </a:br>
            <a:endParaRPr lang="en-US" altLang="en-US"/>
          </a:p>
          <a:p>
            <a:pPr>
              <a:defRPr sz="2000"/>
            </a:pPr>
            <a:r>
              <a:rPr lang="en-US" altLang="en-US" sz="1600">
                <a:ln/>
                <a:solidFill>
                  <a:srgbClr val="FF0000"/>
                </a:solidFill>
                <a:effectLst>
                  <a:outerShdw blurRad="38100" dist="19050" dir="2700000" algn="tl" rotWithShape="0">
                    <a:schemeClr val="dk1">
                      <a:alpha val="40000"/>
                    </a:schemeClr>
                  </a:outerShdw>
                </a:effectLst>
              </a:rPr>
              <a:t>Trust is High:</a:t>
            </a:r>
            <a:r>
              <a:rPr lang="en-US" altLang="en-US"/>
              <a:t> </a:t>
            </a:r>
            <a:br>
              <a:rPr lang="en-US" altLang="en-US"/>
            </a:br>
            <a:r>
              <a:rPr lang="en-US" altLang="en-US" sz="1200"/>
              <a:t>Each party trusts the motives of the other.</a:t>
            </a:r>
            <a:br>
              <a:rPr lang="en-US" altLang="en-US" sz="1200"/>
            </a:br>
            <a:endParaRPr lang="en-US" altLang="en-US"/>
          </a:p>
          <a:p>
            <a:pPr>
              <a:defRPr sz="2000"/>
            </a:pPr>
            <a:r>
              <a:rPr lang="en-US" altLang="en-US" sz="1400">
                <a:ln/>
                <a:solidFill>
                  <a:srgbClr val="FF0000"/>
                </a:solidFill>
                <a:effectLst>
                  <a:outerShdw blurRad="38100" dist="19050" dir="2700000" algn="tl" rotWithShape="0">
                    <a:schemeClr val="dk1">
                      <a:alpha val="40000"/>
                    </a:schemeClr>
                  </a:outerShdw>
                </a:effectLst>
              </a:rPr>
              <a:t>Concern for "US" not just "ME":</a:t>
            </a:r>
            <a:r>
              <a:rPr lang="en-US" altLang="en-US"/>
              <a:t> </a:t>
            </a:r>
            <a:br>
              <a:rPr lang="en-US" altLang="en-US"/>
            </a:br>
            <a:r>
              <a:rPr lang="en-US" altLang="en-US" sz="1200"/>
              <a:t>You're not pitted one against another. You're not really fighting each other but you are working together to understand or solve a common problem.</a:t>
            </a:r>
            <a:endParaRPr lang="en-US" altLang="en-US"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7 Guidelines for Effective Listening</a:t>
            </a:r>
          </a:p>
        </p:txBody>
      </p:sp>
      <p:sp>
        <p:nvSpPr>
          <p:cNvPr id="3" name="Content Placeholder 2"/>
          <p:cNvSpPr>
            <a:spLocks noGrp="1"/>
          </p:cNvSpPr>
          <p:nvPr>
            <p:ph idx="1"/>
          </p:nvPr>
        </p:nvSpPr>
        <p:spPr>
          <a:xfrm>
            <a:off x="457200" y="1594485"/>
            <a:ext cx="8229600" cy="4525963"/>
          </a:xfrm>
        </p:spPr>
        <p:txBody>
          <a:bodyPr>
            <a:normAutofit lnSpcReduction="10000"/>
          </a:bodyPr>
          <a:lstStyle/>
          <a:p>
            <a:pPr>
              <a:defRPr sz="2000"/>
            </a:pPr>
            <a:r>
              <a:t>Be totally attentive and present.</a:t>
            </a:r>
          </a:p>
          <a:p>
            <a:pPr>
              <a:defRPr sz="2000"/>
            </a:pPr>
            <a:r>
              <a:t>Maintain an open, non-judgmental mindset.</a:t>
            </a:r>
          </a:p>
          <a:p>
            <a:pPr>
              <a:defRPr sz="2000"/>
            </a:pPr>
            <a:r>
              <a:t>Use prompts (e.g., “uh-huh”, “okay”, “wow”) to encourage sharing.</a:t>
            </a:r>
          </a:p>
          <a:p>
            <a:pPr>
              <a:defRPr sz="2000"/>
            </a:pPr>
            <a:r>
              <a:t>Hear the deeper meaning, not just the words.</a:t>
            </a:r>
          </a:p>
          <a:p>
            <a:pPr>
              <a:defRPr sz="2000"/>
            </a:pPr>
            <a:r>
              <a:t>Ask clarifying questions to better understand.</a:t>
            </a:r>
            <a:br/>
            <a:r>
              <a:rPr lang="en-US"/>
              <a:t>	</a:t>
            </a:r>
            <a:r>
              <a:rPr lang="en-US" altLang="en-US" sz="1200">
                <a:solidFill>
                  <a:srgbClr val="FF0000"/>
                </a:solidFill>
              </a:rPr>
              <a:t>- Could you share more about you mean by that?</a:t>
            </a:r>
            <a:endParaRPr lang="en-US" altLang="en-US" sz="1200">
              <a:solidFill>
                <a:srgbClr val="FF0000"/>
              </a:solidFill>
            </a:endParaRPr>
          </a:p>
          <a:p>
            <a:pPr marL="0" indent="457200">
              <a:buNone/>
              <a:defRPr sz="2000"/>
            </a:pPr>
            <a:r>
              <a:rPr lang="en-US" altLang="en-US" sz="1200">
                <a:solidFill>
                  <a:srgbClr val="FF0000"/>
                </a:solidFill>
              </a:rPr>
              <a:t>- Can you help me understand how you arrived at that conclusion?</a:t>
            </a:r>
            <a:endParaRPr lang="en-US" altLang="en-US" sz="1200">
              <a:solidFill>
                <a:srgbClr val="FF0000"/>
              </a:solidFill>
            </a:endParaRPr>
          </a:p>
          <a:p>
            <a:pPr marL="0" indent="457200">
              <a:buNone/>
              <a:defRPr sz="2000"/>
            </a:pPr>
            <a:r>
              <a:rPr lang="en-US" altLang="en-US" sz="1200">
                <a:solidFill>
                  <a:srgbClr val="FF0000"/>
                </a:solidFill>
              </a:rPr>
              <a:t>- What interpretation did you make of that comment/situation?</a:t>
            </a:r>
            <a:endParaRPr lang="en-US" altLang="en-US" sz="1200">
              <a:solidFill>
                <a:srgbClr val="FF0000"/>
              </a:solidFill>
            </a:endParaRPr>
          </a:p>
          <a:p>
            <a:pPr marL="0" indent="457200">
              <a:buNone/>
              <a:defRPr sz="2000"/>
            </a:pPr>
            <a:r>
              <a:rPr lang="en-US" altLang="en-US" sz="1200">
                <a:solidFill>
                  <a:srgbClr val="FF0000"/>
                </a:solidFill>
              </a:rPr>
              <a:t>- What did you feel when that occurred?</a:t>
            </a:r>
            <a:endParaRPr lang="en-US" altLang="en-US" sz="1200">
              <a:solidFill>
                <a:srgbClr val="FF0000"/>
              </a:solidFill>
            </a:endParaRPr>
          </a:p>
          <a:p>
            <a:pPr marL="0" indent="457200">
              <a:buNone/>
              <a:defRPr sz="2000"/>
            </a:pPr>
            <a:r>
              <a:rPr lang="en-US" altLang="en-US" sz="1200">
                <a:solidFill>
                  <a:srgbClr val="FF0000"/>
                </a:solidFill>
              </a:rPr>
              <a:t>- What else was going on?</a:t>
            </a:r>
            <a:endParaRPr lang="en-US" altLang="en-US" sz="1200">
              <a:solidFill>
                <a:srgbClr val="FF0000"/>
              </a:solidFill>
            </a:endParaRPr>
          </a:p>
          <a:p>
            <a:pPr marL="0" indent="457200">
              <a:buNone/>
              <a:defRPr sz="2000"/>
            </a:pPr>
            <a:r>
              <a:rPr lang="en-US" altLang="en-US" sz="1200">
                <a:solidFill>
                  <a:srgbClr val="FF0000"/>
                </a:solidFill>
              </a:rPr>
              <a:t>- What happened next?</a:t>
            </a:r>
            <a:endParaRPr lang="en-US" altLang="en-US" sz="1200">
              <a:solidFill>
                <a:srgbClr val="FF0000"/>
              </a:solidFill>
            </a:endParaRPr>
          </a:p>
          <a:p>
            <a:pPr>
              <a:defRPr sz="2000"/>
            </a:pPr>
            <a:r>
              <a:t>Restate or paraphrase what you’re hearing.</a:t>
            </a:r>
          </a:p>
          <a:p>
            <a:pPr>
              <a:defRPr sz="2000"/>
            </a:pPr>
            <a:r>
              <a:t>Be </a:t>
            </a:r>
            <a:r>
              <a:rPr lang="en-US"/>
              <a:t>okay </a:t>
            </a:r>
            <a:r>
              <a:t>with silence.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Observing Group Dynamics</a:t>
            </a:r>
          </a:p>
        </p:txBody>
      </p:sp>
      <p:sp>
        <p:nvSpPr>
          <p:cNvPr id="3" name="Content Placeholder 2"/>
          <p:cNvSpPr>
            <a:spLocks noGrp="1"/>
          </p:cNvSpPr>
          <p:nvPr>
            <p:ph idx="1"/>
          </p:nvPr>
        </p:nvSpPr>
        <p:spPr/>
        <p:txBody>
          <a:bodyPr>
            <a:normAutofit lnSpcReduction="20000"/>
          </a:bodyPr>
          <a:lstStyle/>
          <a:p>
            <a:pPr>
              <a:defRPr sz="2000"/>
            </a:pPr>
            <a:r>
              <a:rPr sz="1600">
                <a:ln/>
                <a:solidFill>
                  <a:srgbClr val="FF0000"/>
                </a:solidFill>
                <a:effectLst>
                  <a:outerShdw blurRad="38100" dist="19050" dir="2700000" algn="tl" rotWithShape="0">
                    <a:schemeClr val="dk1">
                      <a:alpha val="40000"/>
                    </a:schemeClr>
                  </a:outerShdw>
                </a:effectLst>
              </a:rPr>
              <a:t>Atmosphere:</a:t>
            </a:r>
            <a:r>
              <a:t> </a:t>
            </a:r>
            <a:br/>
            <a:r>
              <a:rPr lang="en-US" altLang="en-US" sz="1200"/>
              <a:t>What's the overall atmosphere or tone of the group? Is it warm and friendly? Is that argumentative and competitive?</a:t>
            </a:r>
            <a:br>
              <a:rPr sz="1200"/>
            </a:br>
            <a:endParaRPr sz="1200"/>
          </a:p>
          <a:p>
            <a:pPr>
              <a:defRPr sz="2000"/>
            </a:pPr>
            <a:r>
              <a:rPr sz="1600">
                <a:ln/>
                <a:solidFill>
                  <a:srgbClr val="FF0000"/>
                </a:solidFill>
                <a:effectLst>
                  <a:outerShdw blurRad="38100" dist="19050" dir="2700000" algn="tl" rotWithShape="0">
                    <a:schemeClr val="dk1">
                      <a:alpha val="40000"/>
                    </a:schemeClr>
                  </a:outerShdw>
                </a:effectLst>
              </a:rPr>
              <a:t>Participation:</a:t>
            </a:r>
            <a:r>
              <a:t> </a:t>
            </a:r>
            <a:br/>
            <a:r>
              <a:rPr lang="en-US" altLang="en-US" sz="1200"/>
              <a:t>Who is participating? Who's not participating? How and how much do people participate in the group?</a:t>
            </a:r>
            <a:br>
              <a:rPr sz="1200"/>
            </a:br>
            <a:endParaRPr sz="1200"/>
          </a:p>
          <a:p>
            <a:pPr>
              <a:defRPr sz="2000"/>
            </a:pPr>
            <a:r>
              <a:rPr sz="1600">
                <a:ln/>
                <a:solidFill>
                  <a:srgbClr val="FF0000"/>
                </a:solidFill>
                <a:effectLst>
                  <a:outerShdw blurRad="38100" dist="19050" dir="2700000" algn="tl" rotWithShape="0">
                    <a:schemeClr val="dk1">
                      <a:alpha val="40000"/>
                    </a:schemeClr>
                  </a:outerShdw>
                </a:effectLst>
              </a:rPr>
              <a:t>Influence:</a:t>
            </a:r>
            <a:r>
              <a:t> </a:t>
            </a:r>
            <a:br/>
            <a:r>
              <a:rPr lang="en-US" altLang="en-US" sz="1200"/>
              <a:t>Who has influence and how do they exert that influence? And what's the style of influence that different people in the group use?</a:t>
            </a:r>
            <a:br>
              <a:rPr lang="en-US" altLang="en-US" sz="1200"/>
            </a:br>
          </a:p>
          <a:p>
            <a:pPr>
              <a:defRPr sz="2000"/>
            </a:pPr>
            <a:r>
              <a:rPr sz="1400">
                <a:ln/>
                <a:solidFill>
                  <a:srgbClr val="FF0000"/>
                </a:solidFill>
                <a:effectLst>
                  <a:outerShdw blurRad="38100" dist="19050" dir="2700000" algn="tl" rotWithShape="0">
                    <a:schemeClr val="dk1">
                      <a:alpha val="40000"/>
                    </a:schemeClr>
                  </a:outerShdw>
                </a:effectLst>
              </a:rPr>
              <a:t>Relationships:</a:t>
            </a:r>
            <a:r>
              <a:t> </a:t>
            </a:r>
            <a:br/>
            <a:r>
              <a:rPr lang="en-US" altLang="en-US" sz="1200"/>
              <a:t>How would you describe the bond and the quality of relationships between members? Are they engaged and attached? Do people feel included? And who are the harmonizers? Who are the people that try to keep some cohesion and how do they fulfill this role?</a:t>
            </a:r>
            <a:br>
              <a:rPr sz="1200"/>
            </a:br>
            <a:endParaRPr sz="1200"/>
          </a:p>
          <a:p>
            <a:pPr>
              <a:defRPr sz="2000"/>
            </a:pPr>
            <a:r>
              <a:rPr sz="1400">
                <a:ln/>
                <a:solidFill>
                  <a:srgbClr val="FF0000"/>
                </a:solidFill>
                <a:effectLst>
                  <a:outerShdw blurRad="38100" dist="19050" dir="2700000" algn="tl" rotWithShape="0">
                    <a:schemeClr val="dk1">
                      <a:alpha val="40000"/>
                    </a:schemeClr>
                  </a:outerShdw>
                </a:effectLst>
              </a:rPr>
              <a:t>Task focus:</a:t>
            </a:r>
            <a:r>
              <a:t> </a:t>
            </a:r>
            <a:br/>
            <a:r>
              <a:rPr lang="en-US" altLang="en-US" sz="1200"/>
              <a:t>How focused is the group on accomplishing a task ? How do various members contribute toward the accomplishment of that task? Who facilitates moving toward the accomplishment and who gets in the way or impedes the accomplishment of the task?</a:t>
            </a:r>
            <a:br>
              <a:rPr sz="1200"/>
            </a:br>
            <a:endParaRPr sz="1200"/>
          </a:p>
          <a:p>
            <a:pPr>
              <a:defRPr sz="2000"/>
            </a:pPr>
            <a:r>
              <a:rPr sz="1400">
                <a:ln/>
                <a:solidFill>
                  <a:srgbClr val="FF0000"/>
                </a:solidFill>
                <a:effectLst>
                  <a:outerShdw blurRad="38100" dist="19050" dir="2700000" algn="tl" rotWithShape="0">
                    <a:schemeClr val="dk1">
                      <a:alpha val="40000"/>
                    </a:schemeClr>
                  </a:outerShdw>
                </a:effectLst>
              </a:rPr>
              <a:t>Decision making:</a:t>
            </a:r>
            <a:r>
              <a:t> </a:t>
            </a:r>
            <a:br/>
            <a:r>
              <a:rPr lang="en-US" altLang="en-US" sz="1200"/>
              <a:t>What kinds of decisions does this group make and how do the members make decisions and who's involved and who's not involved?</a:t>
            </a:r>
            <a:endParaRPr lang="en-US" alt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3550" y="2285683"/>
            <a:ext cx="8229600" cy="1143000"/>
          </a:xfrm>
        </p:spPr>
        <p:txBody>
          <a:bodyPr/>
          <a:lstStyle/>
          <a:p>
            <a:r>
              <a:rPr lang="en-US"/>
              <a:t>THANK YOU</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7749</Words>
  <Application>WPS Presentation</Application>
  <PresentationFormat>On-screen Show (4:3)</PresentationFormat>
  <Paragraphs>121</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SimSun</vt:lpstr>
      <vt:lpstr>Wingdings</vt:lpstr>
      <vt:lpstr>Arial</vt:lpstr>
      <vt:lpstr>Calibri</vt:lpstr>
      <vt:lpstr>Microsoft YaHei</vt:lpstr>
      <vt:lpstr>Arial Unicode MS</vt:lpstr>
      <vt:lpstr>Office Theme</vt:lpstr>
      <vt:lpstr>The Power of Deep Listening</vt:lpstr>
      <vt:lpstr>What is Listening?</vt:lpstr>
      <vt:lpstr>Why Deep Listening Matters</vt:lpstr>
      <vt:lpstr>The Power of Deep Listening – Key Outcomes</vt:lpstr>
      <vt:lpstr>Listening in Successful Families</vt:lpstr>
      <vt:lpstr>Why We Are Not Good Listeners</vt:lpstr>
      <vt:lpstr>How to Stay Attuned to the Speaker</vt:lpstr>
      <vt:lpstr>Poor Listening Responses (1)</vt:lpstr>
      <vt:lpstr>Poor Listening Responses (2)</vt:lpstr>
      <vt:lpstr>Poor Listening Responses (3)</vt:lpstr>
      <vt:lpstr>Problems with Poor Listening Responses</vt:lpstr>
      <vt:lpstr>Bedrock Conversations</vt:lpstr>
      <vt:lpstr>Example of Bedrock</vt:lpstr>
      <vt:lpstr>Characteristics of Bedrock Conversations</vt:lpstr>
      <vt:lpstr>7 Guidelines for Effective Listening</vt:lpstr>
      <vt:lpstr>Observing Group Dynamics</vt:lpstr>
      <vt:lpstr>Keeping Responsibility on the Speaker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Mohamed Elhawary</cp:lastModifiedBy>
  <cp:revision>2</cp:revision>
  <dcterms:created xsi:type="dcterms:W3CDTF">2013-01-27T09:14:00Z</dcterms:created>
  <dcterms:modified xsi:type="dcterms:W3CDTF">2025-11-16T18:38:06Z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2982B10EF1EC45929A5744863D6B90FD_12</vt:lpwstr>
  </property>
  <property fmtid="{D5CDD505-2E9C-101B-9397-08002B2CF9AE}" pid="3" name="KSOProductBuildVer">
    <vt:lpwstr>1033-12.2.0.23155</vt:lpwstr>
  </property>
</Properties>
</file>